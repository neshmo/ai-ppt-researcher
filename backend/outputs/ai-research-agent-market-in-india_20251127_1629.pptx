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0152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b="1" sz="4800">
                <a:solidFill>
                  <a:srgbClr val="F0F0F0"/>
                </a:solidFill>
                <a:latin typeface="Arial"/>
              </a:defRPr>
            </a:pPr>
            <a:r>
              <a:t>Transforming Research: The AI Agent Revolution in India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4114800"/>
            <a:ext cx="10360152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>
                <a:solidFill>
                  <a:srgbClr val="38BDF8"/>
                </a:solidFill>
                <a:latin typeface="Arial"/>
              </a:defRPr>
            </a:pPr>
            <a:r>
              <a:t>Strategic Insights into the Evolving Market Landscape</a:t>
            </a:r>
          </a:p>
        </p:txBody>
      </p:sp>
    </p:spTree>
  </p:cSld>
  <p:clrMapOvr>
    <a:masterClrMapping/>
  </p:clrMapOvr>
  <p:transition spd="slow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38BDF8"/>
                </a:solidFill>
                <a:latin typeface="Arial"/>
              </a:defRPr>
            </a:pPr>
            <a:r>
              <a:t>Executive Summary: Key Market Insights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1200"/>
              </a:spcBef>
              <a:spcAft>
                <a:spcPts val="1200"/>
              </a:spcAft>
              <a:defRPr sz="2200">
                <a:solidFill>
                  <a:srgbClr val="F0F0F0"/>
                </a:solidFill>
                <a:latin typeface="Arial"/>
              </a:defRPr>
            </a:pPr>
            <a:r>
              <a:t>• AI research agent market in India is rapidly evolving.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200">
                <a:solidFill>
                  <a:srgbClr val="F0F0F0"/>
                </a:solidFill>
                <a:latin typeface="Arial"/>
              </a:defRPr>
            </a:pPr>
            <a:r>
              <a:t>• Catalyzed by government initiatives and significant investments.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200">
                <a:solidFill>
                  <a:srgbClr val="F0F0F0"/>
                </a:solidFill>
                <a:latin typeface="Arial"/>
              </a:defRPr>
            </a:pPr>
            <a:r>
              <a:t>• Demand for AI solutions is surging across multiple sectors.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200">
                <a:solidFill>
                  <a:srgbClr val="F0F0F0"/>
                </a:solidFill>
                <a:latin typeface="Arial"/>
              </a:defRPr>
            </a:pPr>
            <a:r>
              <a:t>• Convergence of traditional methods with AI tools presents new avenues.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200">
                <a:solidFill>
                  <a:srgbClr val="F0F0F0"/>
                </a:solidFill>
                <a:latin typeface="Arial"/>
              </a:defRPr>
            </a:pPr>
            <a:r>
              <a:t>• Addresses ethical and regulatory challenges faced by stakeholders.</a:t>
            </a:r>
          </a:p>
        </p:txBody>
      </p:sp>
    </p:spTree>
  </p:cSld>
  <p:clrMapOvr>
    <a:masterClrMapping/>
  </p:clrMapOvr>
  <p:transition spd="slow">
    <p:fade/>
  </p:transition>
  <p:timing>
    <p:tnLst>
      <p:par>
        <p:cTn id="1" type="par" fill="hold" nodeType="tmRoot">
          <p:childTnLst>
            <p:seq concurrent="1" nextAc="seek">
              <p:cTn id="2" type="seq" fill="hold" nodeType="mainSeq">
                <p:childTnLst>
                  <p:par>
                    <p:cTn id="3" type="par" fill="hold" nodeType="clickEffect" presetID="10" presetClass="entr">
                      <p:stCondLst>
                        <p:cond delay="300"/>
                      </p:stCondLst>
                      <p:childTnLst>
                        <p:par>
                          <p:cTn id="4" type="par" fill="hold" nodeType="withEffect" presetID="10" presetClass="entr">
                            <p:childTnLst/>
                            <p:tgtEl>
                              <p:spTgt spid="3">
                                <p:txEl>
                                  <p:pRg st="0" end="0"/>
                                </p:txEl>
                              </p:spTgt>
                            </p:tgtEl>
                          </p:cTn>
                        </p:par>
                      </p:childTnLst>
                    </p:cTn>
                  </p:par>
                  <p:par>
                    <p:cTn id="5" type="par" fill="hold" nodeType="clickEffect" presetID="10" presetClass="entr">
                      <p:stCondLst>
                        <p:cond delay="300"/>
                      </p:stCondLst>
                      <p:childTnLst>
                        <p:par>
                          <p:cTn id="6" type="par" fill="hold" nodeType="withEffect" presetID="10" presetClass="entr">
                            <p:childTnLst/>
                            <p:tgtEl>
                              <p:spTgt spid="3">
                                <p:txEl>
                                  <p:pRg st="1" end="1"/>
                                </p:txEl>
                              </p:spTgt>
                            </p:tgtEl>
                          </p:cTn>
                        </p:par>
                      </p:childTnLst>
                    </p:cTn>
                  </p:par>
                  <p:par>
                    <p:cTn id="7" type="par" fill="hold" nodeType="clickEffect" presetID="10" presetClass="entr">
                      <p:stCondLst>
                        <p:cond delay="300"/>
                      </p:stCondLst>
                      <p:childTnLst>
                        <p:par>
                          <p:cTn id="8" type="par" fill="hold" nodeType="withEffect" presetID="10" presetClass="entr">
                            <p:childTnLst/>
                            <p:tgtEl>
                              <p:spTgt spid="3">
                                <p:txEl>
                                  <p:pRg st="2" end="2"/>
                                </p:txEl>
                              </p:spTgt>
                            </p:tgtEl>
                          </p:cTn>
                        </p:par>
                      </p:childTnLst>
                    </p:cTn>
                  </p:par>
                  <p:par>
                    <p:cTn id="9" type="par" fill="hold" nodeType="clickEffect" presetID="10" presetClass="entr">
                      <p:stCondLst>
                        <p:cond delay="300"/>
                      </p:stCondLst>
                      <p:childTnLst>
                        <p:par>
                          <p:cTn id="10" type="par" fill="hold" nodeType="withEffect" presetID="10" presetClass="entr">
                            <p:childTnLst/>
                            <p:tgtEl>
                              <p:spTgt spid="3">
                                <p:txEl>
                                  <p:pRg st="3" end="3"/>
                                </p:txEl>
                              </p:spTgt>
                            </p:tgtEl>
                          </p:cTn>
                        </p:par>
                      </p:childTnLst>
                    </p:cTn>
                  </p:par>
                  <p:par>
                    <p:cTn id="11" type="par" fill="hold" nodeType="clickEffect" presetID="10" presetClass="entr">
                      <p:stCondLst>
                        <p:cond delay="300"/>
                      </p:stCondLst>
                      <p:childTnLst>
                        <p:par>
                          <p:cTn id="12" type="par" fill="hold" nodeType="withEffect" presetID="10" presetClass="entr">
                            <p:childTnLst/>
                            <p:tgtEl>
                              <p:spTgt spid="3">
                                <p:txEl>
                                  <p:pRg st="4" end="4"/>
                                </p:txEl>
                              </p:spTgt>
                            </p:tgtEl>
                          </p:cTn>
                        </p:par>
                      </p:childTnLst>
                    </p:cTn>
                  </p:par>
                  <p:par>
                    <p:cTn id="13" type="par" fill="hold" nodeType="clickEffect" presetID="10" presetClass="entr">
                      <p:stCondLst>
                        <p:cond delay="300"/>
                      </p:stCondLst>
                      <p:childTnLst>
                        <p:par>
                          <p:cTn id="14" type="par" fill="hold" nodeType="withEffect" presetID="10" presetClass="entr">
                            <p:childTnLst/>
                            <p:tgtEl>
                              <p:spTgt spid="3">
                                <p:txEl>
                                  <p:pRg st="5" end="5"/>
                                </p:txEl>
                              </p:spTgt>
                            </p:tgtEl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38BDF8"/>
                </a:solidFill>
                <a:latin typeface="Arial"/>
              </a:defRPr>
            </a:pPr>
            <a:r>
              <a:t>Key Statistics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1200"/>
              </a:spcBef>
              <a:spcAft>
                <a:spcPts val="1200"/>
              </a:spcAft>
              <a:defRPr sz="2200">
                <a:solidFill>
                  <a:srgbClr val="F0F0F0"/>
                </a:solidFill>
                <a:latin typeface="Arial"/>
              </a:defRPr>
            </a:pPr>
            <a:r>
              <a:t>• Increasing academic publications and patents in AI reflecting growing influence (2023)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200">
                <a:solidFill>
                  <a:srgbClr val="F0F0F0"/>
                </a:solidFill>
                <a:latin typeface="Arial"/>
              </a:defRPr>
            </a:pPr>
            <a:r>
              <a:t>• Projections for market growth over the next five years (2023)</a:t>
            </a:r>
          </a:p>
        </p:txBody>
      </p:sp>
    </p:spTree>
  </p:cSld>
  <p:clrMapOvr>
    <a:masterClrMapping/>
  </p:clrMapOvr>
  <p:transition spd="slow">
    <p:fade/>
  </p:transition>
  <p:timing>
    <p:tnLst>
      <p:par>
        <p:cTn id="1" type="par" fill="hold" nodeType="tmRoot">
          <p:childTnLst>
            <p:seq concurrent="1" nextAc="seek">
              <p:cTn id="2" type="seq" fill="hold" nodeType="mainSeq">
                <p:childTnLst>
                  <p:par>
                    <p:cTn id="3" type="par" fill="hold" nodeType="clickEffect" presetID="10" presetClass="entr">
                      <p:stCondLst>
                        <p:cond delay="300"/>
                      </p:stCondLst>
                      <p:childTnLst>
                        <p:par>
                          <p:cTn id="4" type="par" fill="hold" nodeType="withEffect" presetID="10" presetClass="entr">
                            <p:childTnLst/>
                            <p:tgtEl>
                              <p:spTgt spid="3">
                                <p:txEl>
                                  <p:pRg st="0" end="0"/>
                                </p:txEl>
                              </p:spTgt>
                            </p:tgtEl>
                          </p:cTn>
                        </p:par>
                      </p:childTnLst>
                    </p:cTn>
                  </p:par>
                  <p:par>
                    <p:cTn id="5" type="par" fill="hold" nodeType="clickEffect" presetID="10" presetClass="entr">
                      <p:stCondLst>
                        <p:cond delay="300"/>
                      </p:stCondLst>
                      <p:childTnLst>
                        <p:par>
                          <p:cTn id="6" type="par" fill="hold" nodeType="withEffect" presetID="10" presetClass="entr">
                            <p:childTnLst/>
                            <p:tgtEl>
                              <p:spTgt spid="3">
                                <p:txEl>
                                  <p:pRg st="1" end="1"/>
                                </p:txEl>
                              </p:spTgt>
                            </p:tgtEl>
                          </p:cTn>
                        </p:par>
                      </p:childTnLst>
                    </p:cTn>
                  </p:par>
                  <p:par>
                    <p:cTn id="7" type="par" fill="hold" nodeType="clickEffect" presetID="10" presetClass="entr">
                      <p:stCondLst>
                        <p:cond delay="300"/>
                      </p:stCondLst>
                      <p:childTnLst>
                        <p:par>
                          <p:cTn id="8" type="par" fill="hold" nodeType="withEffect" presetID="10" presetClass="entr">
                            <p:childTnLst/>
                            <p:tgtEl>
                              <p:spTgt spid="3">
                                <p:txEl>
                                  <p:pRg st="2" end="2"/>
                                </p:txEl>
                              </p:spTgt>
                            </p:tgtEl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38BDF8"/>
                </a:solidFill>
                <a:latin typeface="Arial"/>
              </a:defRPr>
            </a:pPr>
            <a:r>
              <a:t>Market Overview: Current Landscape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1200"/>
              </a:spcBef>
              <a:spcAft>
                <a:spcPts val="1200"/>
              </a:spcAft>
              <a:defRPr sz="2200">
                <a:solidFill>
                  <a:srgbClr val="F0F0F0"/>
                </a:solidFill>
                <a:latin typeface="Arial"/>
              </a:defRPr>
            </a:pPr>
            <a:r>
              <a:t>• Emerging as a powerhouse in AI research on a global scale.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200">
                <a:solidFill>
                  <a:srgbClr val="F0F0F0"/>
                </a:solidFill>
                <a:latin typeface="Arial"/>
              </a:defRPr>
            </a:pPr>
            <a:r>
              <a:t>• Increased collaboration between tech giants and academia.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200">
                <a:solidFill>
                  <a:srgbClr val="F0F0F0"/>
                </a:solidFill>
                <a:latin typeface="Arial"/>
              </a:defRPr>
            </a:pPr>
            <a:r>
              <a:t>• Growth in academic publications and patents reflects industry momentum.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200">
                <a:solidFill>
                  <a:srgbClr val="F0F0F0"/>
                </a:solidFill>
                <a:latin typeface="Arial"/>
              </a:defRPr>
            </a:pPr>
            <a:r>
              <a:t>• Projected market growth rates signal robust investment opportunities.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200">
                <a:solidFill>
                  <a:srgbClr val="F0F0F0"/>
                </a:solidFill>
                <a:latin typeface="Arial"/>
              </a:defRPr>
            </a:pPr>
            <a:r>
              <a:t>• Key roles assumed by startups in driving innovation.</a:t>
            </a:r>
          </a:p>
        </p:txBody>
      </p:sp>
    </p:spTree>
  </p:cSld>
  <p:clrMapOvr>
    <a:masterClrMapping/>
  </p:clrMapOvr>
  <p:transition spd="slow">
    <p:fade/>
  </p:transition>
  <p:timing>
    <p:tnLst>
      <p:par>
        <p:cTn id="1" type="par" fill="hold" nodeType="tmRoot">
          <p:childTnLst>
            <p:seq concurrent="1" nextAc="seek">
              <p:cTn id="2" type="seq" fill="hold" nodeType="mainSeq">
                <p:childTnLst>
                  <p:par>
                    <p:cTn id="3" type="par" fill="hold" nodeType="clickEffect" presetID="10" presetClass="entr">
                      <p:stCondLst>
                        <p:cond delay="300"/>
                      </p:stCondLst>
                      <p:childTnLst>
                        <p:par>
                          <p:cTn id="4" type="par" fill="hold" nodeType="withEffect" presetID="10" presetClass="entr">
                            <p:childTnLst/>
                            <p:tgtEl>
                              <p:spTgt spid="3">
                                <p:txEl>
                                  <p:pRg st="0" end="0"/>
                                </p:txEl>
                              </p:spTgt>
                            </p:tgtEl>
                          </p:cTn>
                        </p:par>
                      </p:childTnLst>
                    </p:cTn>
                  </p:par>
                  <p:par>
                    <p:cTn id="5" type="par" fill="hold" nodeType="clickEffect" presetID="10" presetClass="entr">
                      <p:stCondLst>
                        <p:cond delay="300"/>
                      </p:stCondLst>
                      <p:childTnLst>
                        <p:par>
                          <p:cTn id="6" type="par" fill="hold" nodeType="withEffect" presetID="10" presetClass="entr">
                            <p:childTnLst/>
                            <p:tgtEl>
                              <p:spTgt spid="3">
                                <p:txEl>
                                  <p:pRg st="1" end="1"/>
                                </p:txEl>
                              </p:spTgt>
                            </p:tgtEl>
                          </p:cTn>
                        </p:par>
                      </p:childTnLst>
                    </p:cTn>
                  </p:par>
                  <p:par>
                    <p:cTn id="7" type="par" fill="hold" nodeType="clickEffect" presetID="10" presetClass="entr">
                      <p:stCondLst>
                        <p:cond delay="300"/>
                      </p:stCondLst>
                      <p:childTnLst>
                        <p:par>
                          <p:cTn id="8" type="par" fill="hold" nodeType="withEffect" presetID="10" presetClass="entr">
                            <p:childTnLst/>
                            <p:tgtEl>
                              <p:spTgt spid="3">
                                <p:txEl>
                                  <p:pRg st="2" end="2"/>
                                </p:txEl>
                              </p:spTgt>
                            </p:tgtEl>
                          </p:cTn>
                        </p:par>
                      </p:childTnLst>
                    </p:cTn>
                  </p:par>
                  <p:par>
                    <p:cTn id="9" type="par" fill="hold" nodeType="clickEffect" presetID="10" presetClass="entr">
                      <p:stCondLst>
                        <p:cond delay="300"/>
                      </p:stCondLst>
                      <p:childTnLst>
                        <p:par>
                          <p:cTn id="10" type="par" fill="hold" nodeType="withEffect" presetID="10" presetClass="entr">
                            <p:childTnLst/>
                            <p:tgtEl>
                              <p:spTgt spid="3">
                                <p:txEl>
                                  <p:pRg st="3" end="3"/>
                                </p:txEl>
                              </p:spTgt>
                            </p:tgtEl>
                          </p:cTn>
                        </p:par>
                      </p:childTnLst>
                    </p:cTn>
                  </p:par>
                  <p:par>
                    <p:cTn id="11" type="par" fill="hold" nodeType="clickEffect" presetID="10" presetClass="entr">
                      <p:stCondLst>
                        <p:cond delay="300"/>
                      </p:stCondLst>
                      <p:childTnLst>
                        <p:par>
                          <p:cTn id="12" type="par" fill="hold" nodeType="withEffect" presetID="10" presetClass="entr">
                            <p:childTnLst/>
                            <p:tgtEl>
                              <p:spTgt spid="3">
                                <p:txEl>
                                  <p:pRg st="4" end="4"/>
                                </p:txEl>
                              </p:spTgt>
                            </p:tgtEl>
                          </p:cTn>
                        </p:par>
                      </p:childTnLst>
                    </p:cTn>
                  </p:par>
                  <p:par>
                    <p:cTn id="13" type="par" fill="hold" nodeType="clickEffect" presetID="10" presetClass="entr">
                      <p:stCondLst>
                        <p:cond delay="300"/>
                      </p:stCondLst>
                      <p:childTnLst>
                        <p:par>
                          <p:cTn id="14" type="par" fill="hold" nodeType="withEffect" presetID="10" presetClass="entr">
                            <p:childTnLst/>
                            <p:tgtEl>
                              <p:spTgt spid="3">
                                <p:txEl>
                                  <p:pRg st="5" end="5"/>
                                </p:txEl>
                              </p:spTgt>
                            </p:tgtEl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38BDF8"/>
                </a:solidFill>
                <a:latin typeface="Arial"/>
              </a:defRPr>
            </a:pPr>
            <a:r>
              <a:t>Key Trends &amp; Drivers: The Evolution of AI Research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1200"/>
              </a:spcBef>
              <a:spcAft>
                <a:spcPts val="1200"/>
              </a:spcAft>
              <a:defRPr sz="2200">
                <a:solidFill>
                  <a:srgbClr val="F0F0F0"/>
                </a:solidFill>
                <a:latin typeface="Arial"/>
              </a:defRPr>
            </a:pPr>
            <a:r>
              <a:t>• Convergence of traditional research methodologies with AI applications.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200">
                <a:solidFill>
                  <a:srgbClr val="F0F0F0"/>
                </a:solidFill>
                <a:latin typeface="Arial"/>
              </a:defRPr>
            </a:pPr>
            <a:r>
              <a:t>• Heightened demand for tailored AI solutions across various verticals.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200">
                <a:solidFill>
                  <a:srgbClr val="F0F0F0"/>
                </a:solidFill>
                <a:latin typeface="Arial"/>
              </a:defRPr>
            </a:pPr>
            <a:r>
              <a:t>• Government initiatives bolstering technological developments.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200">
                <a:solidFill>
                  <a:srgbClr val="F0F0F0"/>
                </a:solidFill>
                <a:latin typeface="Arial"/>
              </a:defRPr>
            </a:pPr>
            <a:r>
              <a:t>• Increased partnerships among educational institutions and tech companies.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200">
                <a:solidFill>
                  <a:srgbClr val="F0F0F0"/>
                </a:solidFill>
                <a:latin typeface="Arial"/>
              </a:defRPr>
            </a:pPr>
            <a:r>
              <a:t>• Emerging focus on AI in the healthcare and finance sectors.</a:t>
            </a:r>
          </a:p>
        </p:txBody>
      </p:sp>
    </p:spTree>
  </p:cSld>
  <p:clrMapOvr>
    <a:masterClrMapping/>
  </p:clrMapOvr>
  <p:transition spd="slow">
    <p:fade/>
  </p:transition>
  <p:timing>
    <p:tnLst>
      <p:par>
        <p:cTn id="1" type="par" fill="hold" nodeType="tmRoot">
          <p:childTnLst>
            <p:seq concurrent="1" nextAc="seek">
              <p:cTn id="2" type="seq" fill="hold" nodeType="mainSeq">
                <p:childTnLst>
                  <p:par>
                    <p:cTn id="3" type="par" fill="hold" nodeType="clickEffect" presetID="10" presetClass="entr">
                      <p:stCondLst>
                        <p:cond delay="300"/>
                      </p:stCondLst>
                      <p:childTnLst>
                        <p:par>
                          <p:cTn id="4" type="par" fill="hold" nodeType="withEffect" presetID="10" presetClass="entr">
                            <p:childTnLst/>
                            <p:tgtEl>
                              <p:spTgt spid="3">
                                <p:txEl>
                                  <p:pRg st="0" end="0"/>
                                </p:txEl>
                              </p:spTgt>
                            </p:tgtEl>
                          </p:cTn>
                        </p:par>
                      </p:childTnLst>
                    </p:cTn>
                  </p:par>
                  <p:par>
                    <p:cTn id="5" type="par" fill="hold" nodeType="clickEffect" presetID="10" presetClass="entr">
                      <p:stCondLst>
                        <p:cond delay="300"/>
                      </p:stCondLst>
                      <p:childTnLst>
                        <p:par>
                          <p:cTn id="6" type="par" fill="hold" nodeType="withEffect" presetID="10" presetClass="entr">
                            <p:childTnLst/>
                            <p:tgtEl>
                              <p:spTgt spid="3">
                                <p:txEl>
                                  <p:pRg st="1" end="1"/>
                                </p:txEl>
                              </p:spTgt>
                            </p:tgtEl>
                          </p:cTn>
                        </p:par>
                      </p:childTnLst>
                    </p:cTn>
                  </p:par>
                  <p:par>
                    <p:cTn id="7" type="par" fill="hold" nodeType="clickEffect" presetID="10" presetClass="entr">
                      <p:stCondLst>
                        <p:cond delay="300"/>
                      </p:stCondLst>
                      <p:childTnLst>
                        <p:par>
                          <p:cTn id="8" type="par" fill="hold" nodeType="withEffect" presetID="10" presetClass="entr">
                            <p:childTnLst/>
                            <p:tgtEl>
                              <p:spTgt spid="3">
                                <p:txEl>
                                  <p:pRg st="2" end="2"/>
                                </p:txEl>
                              </p:spTgt>
                            </p:tgtEl>
                          </p:cTn>
                        </p:par>
                      </p:childTnLst>
                    </p:cTn>
                  </p:par>
                  <p:par>
                    <p:cTn id="9" type="par" fill="hold" nodeType="clickEffect" presetID="10" presetClass="entr">
                      <p:stCondLst>
                        <p:cond delay="300"/>
                      </p:stCondLst>
                      <p:childTnLst>
                        <p:par>
                          <p:cTn id="10" type="par" fill="hold" nodeType="withEffect" presetID="10" presetClass="entr">
                            <p:childTnLst/>
                            <p:tgtEl>
                              <p:spTgt spid="3">
                                <p:txEl>
                                  <p:pRg st="3" end="3"/>
                                </p:txEl>
                              </p:spTgt>
                            </p:tgtEl>
                          </p:cTn>
                        </p:par>
                      </p:childTnLst>
                    </p:cTn>
                  </p:par>
                  <p:par>
                    <p:cTn id="11" type="par" fill="hold" nodeType="clickEffect" presetID="10" presetClass="entr">
                      <p:stCondLst>
                        <p:cond delay="300"/>
                      </p:stCondLst>
                      <p:childTnLst>
                        <p:par>
                          <p:cTn id="12" type="par" fill="hold" nodeType="withEffect" presetID="10" presetClass="entr">
                            <p:childTnLst/>
                            <p:tgtEl>
                              <p:spTgt spid="3">
                                <p:txEl>
                                  <p:pRg st="4" end="4"/>
                                </p:txEl>
                              </p:spTgt>
                            </p:tgtEl>
                          </p:cTn>
                        </p:par>
                      </p:childTnLst>
                    </p:cTn>
                  </p:par>
                  <p:par>
                    <p:cTn id="13" type="par" fill="hold" nodeType="clickEffect" presetID="10" presetClass="entr">
                      <p:stCondLst>
                        <p:cond delay="300"/>
                      </p:stCondLst>
                      <p:childTnLst>
                        <p:par>
                          <p:cTn id="14" type="par" fill="hold" nodeType="withEffect" presetID="10" presetClass="entr">
                            <p:childTnLst/>
                            <p:tgtEl>
                              <p:spTgt spid="3">
                                <p:txEl>
                                  <p:pRg st="5" end="5"/>
                                </p:txEl>
                              </p:spTgt>
                            </p:tgtEl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38BDF8"/>
                </a:solidFill>
                <a:latin typeface="Arial"/>
              </a:defRPr>
            </a:pPr>
            <a:r>
              <a:t>Consumer/Customer Insights: Market Demand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1200"/>
              </a:spcBef>
              <a:spcAft>
                <a:spcPts val="1200"/>
              </a:spcAft>
              <a:defRPr sz="2200">
                <a:solidFill>
                  <a:srgbClr val="F0F0F0"/>
                </a:solidFill>
                <a:latin typeface="Arial"/>
              </a:defRPr>
            </a:pPr>
            <a:r>
              <a:t>• Growing reliance of organizations on AI for operational efficiency.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200">
                <a:solidFill>
                  <a:srgbClr val="F0F0F0"/>
                </a:solidFill>
                <a:latin typeface="Arial"/>
              </a:defRPr>
            </a:pPr>
            <a:r>
              <a:t>• Increased need for upskilling workforce in AI technologies.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200">
                <a:solidFill>
                  <a:srgbClr val="F0F0F0"/>
                </a:solidFill>
                <a:latin typeface="Arial"/>
              </a:defRPr>
            </a:pPr>
            <a:r>
              <a:t>• Early adopters report significant ROI through AI integration.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200">
                <a:solidFill>
                  <a:srgbClr val="F0F0F0"/>
                </a:solidFill>
                <a:latin typeface="Arial"/>
              </a:defRPr>
            </a:pPr>
            <a:r>
              <a:t>• Consumer preferences shifting towards data-driven, AI-enhanced solutions.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200">
                <a:solidFill>
                  <a:srgbClr val="F0F0F0"/>
                </a:solidFill>
                <a:latin typeface="Arial"/>
              </a:defRPr>
            </a:pPr>
            <a:r>
              <a:t>• Market segmentation reveals diverse needs across industries.</a:t>
            </a:r>
          </a:p>
        </p:txBody>
      </p:sp>
    </p:spTree>
  </p:cSld>
  <p:clrMapOvr>
    <a:masterClrMapping/>
  </p:clrMapOvr>
  <p:transition spd="slow">
    <p:fade/>
  </p:transition>
  <p:timing>
    <p:tnLst>
      <p:par>
        <p:cTn id="1" type="par" fill="hold" nodeType="tmRoot">
          <p:childTnLst>
            <p:seq concurrent="1" nextAc="seek">
              <p:cTn id="2" type="seq" fill="hold" nodeType="mainSeq">
                <p:childTnLst>
                  <p:par>
                    <p:cTn id="3" type="par" fill="hold" nodeType="clickEffect" presetID="10" presetClass="entr">
                      <p:stCondLst>
                        <p:cond delay="300"/>
                      </p:stCondLst>
                      <p:childTnLst>
                        <p:par>
                          <p:cTn id="4" type="par" fill="hold" nodeType="withEffect" presetID="10" presetClass="entr">
                            <p:childTnLst/>
                            <p:tgtEl>
                              <p:spTgt spid="3">
                                <p:txEl>
                                  <p:pRg st="0" end="0"/>
                                </p:txEl>
                              </p:spTgt>
                            </p:tgtEl>
                          </p:cTn>
                        </p:par>
                      </p:childTnLst>
                    </p:cTn>
                  </p:par>
                  <p:par>
                    <p:cTn id="5" type="par" fill="hold" nodeType="clickEffect" presetID="10" presetClass="entr">
                      <p:stCondLst>
                        <p:cond delay="300"/>
                      </p:stCondLst>
                      <p:childTnLst>
                        <p:par>
                          <p:cTn id="6" type="par" fill="hold" nodeType="withEffect" presetID="10" presetClass="entr">
                            <p:childTnLst/>
                            <p:tgtEl>
                              <p:spTgt spid="3">
                                <p:txEl>
                                  <p:pRg st="1" end="1"/>
                                </p:txEl>
                              </p:spTgt>
                            </p:tgtEl>
                          </p:cTn>
                        </p:par>
                      </p:childTnLst>
                    </p:cTn>
                  </p:par>
                  <p:par>
                    <p:cTn id="7" type="par" fill="hold" nodeType="clickEffect" presetID="10" presetClass="entr">
                      <p:stCondLst>
                        <p:cond delay="300"/>
                      </p:stCondLst>
                      <p:childTnLst>
                        <p:par>
                          <p:cTn id="8" type="par" fill="hold" nodeType="withEffect" presetID="10" presetClass="entr">
                            <p:childTnLst/>
                            <p:tgtEl>
                              <p:spTgt spid="3">
                                <p:txEl>
                                  <p:pRg st="2" end="2"/>
                                </p:txEl>
                              </p:spTgt>
                            </p:tgtEl>
                          </p:cTn>
                        </p:par>
                      </p:childTnLst>
                    </p:cTn>
                  </p:par>
                  <p:par>
                    <p:cTn id="9" type="par" fill="hold" nodeType="clickEffect" presetID="10" presetClass="entr">
                      <p:stCondLst>
                        <p:cond delay="300"/>
                      </p:stCondLst>
                      <p:childTnLst>
                        <p:par>
                          <p:cTn id="10" type="par" fill="hold" nodeType="withEffect" presetID="10" presetClass="entr">
                            <p:childTnLst/>
                            <p:tgtEl>
                              <p:spTgt spid="3">
                                <p:txEl>
                                  <p:pRg st="3" end="3"/>
                                </p:txEl>
                              </p:spTgt>
                            </p:tgtEl>
                          </p:cTn>
                        </p:par>
                      </p:childTnLst>
                    </p:cTn>
                  </p:par>
                  <p:par>
                    <p:cTn id="11" type="par" fill="hold" nodeType="clickEffect" presetID="10" presetClass="entr">
                      <p:stCondLst>
                        <p:cond delay="300"/>
                      </p:stCondLst>
                      <p:childTnLst>
                        <p:par>
                          <p:cTn id="12" type="par" fill="hold" nodeType="withEffect" presetID="10" presetClass="entr">
                            <p:childTnLst/>
                            <p:tgtEl>
                              <p:spTgt spid="3">
                                <p:txEl>
                                  <p:pRg st="4" end="4"/>
                                </p:txEl>
                              </p:spTgt>
                            </p:tgtEl>
                          </p:cTn>
                        </p:par>
                      </p:childTnLst>
                    </p:cTn>
                  </p:par>
                  <p:par>
                    <p:cTn id="13" type="par" fill="hold" nodeType="clickEffect" presetID="10" presetClass="entr">
                      <p:stCondLst>
                        <p:cond delay="300"/>
                      </p:stCondLst>
                      <p:childTnLst>
                        <p:par>
                          <p:cTn id="14" type="par" fill="hold" nodeType="withEffect" presetID="10" presetClass="entr">
                            <p:childTnLst/>
                            <p:tgtEl>
                              <p:spTgt spid="3">
                                <p:txEl>
                                  <p:pRg st="5" end="5"/>
                                </p:txEl>
                              </p:spTgt>
                            </p:tgtEl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38BDF8"/>
                </a:solidFill>
                <a:latin typeface="Arial"/>
              </a:defRPr>
            </a:pPr>
            <a:r>
              <a:t>Competitive Landscape: Key Players and Dynamics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1200"/>
              </a:spcBef>
              <a:spcAft>
                <a:spcPts val="1200"/>
              </a:spcAft>
              <a:defRPr sz="2200">
                <a:solidFill>
                  <a:srgbClr val="F0F0F0"/>
                </a:solidFill>
                <a:latin typeface="Arial"/>
              </a:defRPr>
            </a:pPr>
            <a:r>
              <a:t>• Leading tech companies establishing AI research hubs in India.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200">
                <a:solidFill>
                  <a:srgbClr val="F0F0F0"/>
                </a:solidFill>
                <a:latin typeface="Arial"/>
              </a:defRPr>
            </a:pPr>
            <a:r>
              <a:t>• Emergence of agile startups disrupting traditional models.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200">
                <a:solidFill>
                  <a:srgbClr val="F0F0F0"/>
                </a:solidFill>
                <a:latin typeface="Arial"/>
              </a:defRPr>
            </a:pPr>
            <a:r>
              <a:t>• Competitive advantages driven by innovation and collaboration.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200">
                <a:solidFill>
                  <a:srgbClr val="F0F0F0"/>
                </a:solidFill>
                <a:latin typeface="Arial"/>
              </a:defRPr>
            </a:pPr>
            <a:r>
              <a:t>• International partnerships enhancing market capabilities.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200">
                <a:solidFill>
                  <a:srgbClr val="F0F0F0"/>
                </a:solidFill>
                <a:latin typeface="Arial"/>
              </a:defRPr>
            </a:pPr>
            <a:r>
              <a:t>• Understanding competitor strategies is vital for strategic positioning.</a:t>
            </a:r>
          </a:p>
        </p:txBody>
      </p:sp>
    </p:spTree>
  </p:cSld>
  <p:clrMapOvr>
    <a:masterClrMapping/>
  </p:clrMapOvr>
  <p:transition spd="slow">
    <p:fade/>
  </p:transition>
  <p:timing>
    <p:tnLst>
      <p:par>
        <p:cTn id="1" type="par" fill="hold" nodeType="tmRoot">
          <p:childTnLst>
            <p:seq concurrent="1" nextAc="seek">
              <p:cTn id="2" type="seq" fill="hold" nodeType="mainSeq">
                <p:childTnLst>
                  <p:par>
                    <p:cTn id="3" type="par" fill="hold" nodeType="clickEffect" presetID="10" presetClass="entr">
                      <p:stCondLst>
                        <p:cond delay="300"/>
                      </p:stCondLst>
                      <p:childTnLst>
                        <p:par>
                          <p:cTn id="4" type="par" fill="hold" nodeType="withEffect" presetID="10" presetClass="entr">
                            <p:childTnLst/>
                            <p:tgtEl>
                              <p:spTgt spid="3">
                                <p:txEl>
                                  <p:pRg st="0" end="0"/>
                                </p:txEl>
                              </p:spTgt>
                            </p:tgtEl>
                          </p:cTn>
                        </p:par>
                      </p:childTnLst>
                    </p:cTn>
                  </p:par>
                  <p:par>
                    <p:cTn id="5" type="par" fill="hold" nodeType="clickEffect" presetID="10" presetClass="entr">
                      <p:stCondLst>
                        <p:cond delay="300"/>
                      </p:stCondLst>
                      <p:childTnLst>
                        <p:par>
                          <p:cTn id="6" type="par" fill="hold" nodeType="withEffect" presetID="10" presetClass="entr">
                            <p:childTnLst/>
                            <p:tgtEl>
                              <p:spTgt spid="3">
                                <p:txEl>
                                  <p:pRg st="1" end="1"/>
                                </p:txEl>
                              </p:spTgt>
                            </p:tgtEl>
                          </p:cTn>
                        </p:par>
                      </p:childTnLst>
                    </p:cTn>
                  </p:par>
                  <p:par>
                    <p:cTn id="7" type="par" fill="hold" nodeType="clickEffect" presetID="10" presetClass="entr">
                      <p:stCondLst>
                        <p:cond delay="300"/>
                      </p:stCondLst>
                      <p:childTnLst>
                        <p:par>
                          <p:cTn id="8" type="par" fill="hold" nodeType="withEffect" presetID="10" presetClass="entr">
                            <p:childTnLst/>
                            <p:tgtEl>
                              <p:spTgt spid="3">
                                <p:txEl>
                                  <p:pRg st="2" end="2"/>
                                </p:txEl>
                              </p:spTgt>
                            </p:tgtEl>
                          </p:cTn>
                        </p:par>
                      </p:childTnLst>
                    </p:cTn>
                  </p:par>
                  <p:par>
                    <p:cTn id="9" type="par" fill="hold" nodeType="clickEffect" presetID="10" presetClass="entr">
                      <p:stCondLst>
                        <p:cond delay="300"/>
                      </p:stCondLst>
                      <p:childTnLst>
                        <p:par>
                          <p:cTn id="10" type="par" fill="hold" nodeType="withEffect" presetID="10" presetClass="entr">
                            <p:childTnLst/>
                            <p:tgtEl>
                              <p:spTgt spid="3">
                                <p:txEl>
                                  <p:pRg st="3" end="3"/>
                                </p:txEl>
                              </p:spTgt>
                            </p:tgtEl>
                          </p:cTn>
                        </p:par>
                      </p:childTnLst>
                    </p:cTn>
                  </p:par>
                  <p:par>
                    <p:cTn id="11" type="par" fill="hold" nodeType="clickEffect" presetID="10" presetClass="entr">
                      <p:stCondLst>
                        <p:cond delay="300"/>
                      </p:stCondLst>
                      <p:childTnLst>
                        <p:par>
                          <p:cTn id="12" type="par" fill="hold" nodeType="withEffect" presetID="10" presetClass="entr">
                            <p:childTnLst/>
                            <p:tgtEl>
                              <p:spTgt spid="3">
                                <p:txEl>
                                  <p:pRg st="4" end="4"/>
                                </p:txEl>
                              </p:spTgt>
                            </p:tgtEl>
                          </p:cTn>
                        </p:par>
                      </p:childTnLst>
                    </p:cTn>
                  </p:par>
                  <p:par>
                    <p:cTn id="13" type="par" fill="hold" nodeType="clickEffect" presetID="10" presetClass="entr">
                      <p:stCondLst>
                        <p:cond delay="300"/>
                      </p:stCondLst>
                      <p:childTnLst>
                        <p:par>
                          <p:cTn id="14" type="par" fill="hold" nodeType="withEffect" presetID="10" presetClass="entr">
                            <p:childTnLst/>
                            <p:tgtEl>
                              <p:spTgt spid="3">
                                <p:txEl>
                                  <p:pRg st="5" end="5"/>
                                </p:txEl>
                              </p:spTgt>
                            </p:tgtEl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38BDF8"/>
                </a:solidFill>
                <a:latin typeface="Arial"/>
              </a:defRPr>
            </a:pPr>
            <a:r>
              <a:t>Challenges &amp; Risks: Navigating the AI Landscape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1200"/>
              </a:spcBef>
              <a:spcAft>
                <a:spcPts val="1200"/>
              </a:spcAft>
              <a:defRPr sz="2200">
                <a:solidFill>
                  <a:srgbClr val="F0F0F0"/>
                </a:solidFill>
                <a:latin typeface="Arial"/>
              </a:defRPr>
            </a:pPr>
            <a:r>
              <a:t>• Ethical implications of AI usage require careful consideration.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200">
                <a:solidFill>
                  <a:srgbClr val="F0F0F0"/>
                </a:solidFill>
                <a:latin typeface="Arial"/>
              </a:defRPr>
            </a:pPr>
            <a:r>
              <a:t>• Data privacy concerns pose significant risks for companies.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200">
                <a:solidFill>
                  <a:srgbClr val="F0F0F0"/>
                </a:solidFill>
                <a:latin typeface="Arial"/>
              </a:defRPr>
            </a:pPr>
            <a:r>
              <a:t>• Regulatory frameworks needed to govern AI applications.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200">
                <a:solidFill>
                  <a:srgbClr val="F0F0F0"/>
                </a:solidFill>
                <a:latin typeface="Arial"/>
              </a:defRPr>
            </a:pPr>
            <a:r>
              <a:t>• Resistance from traditional sectors towards AI integration.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200">
                <a:solidFill>
                  <a:srgbClr val="F0F0F0"/>
                </a:solidFill>
                <a:latin typeface="Arial"/>
              </a:defRPr>
            </a:pPr>
            <a:r>
              <a:t>• Talent shortage in the AI domain limits growth potential.</a:t>
            </a:r>
          </a:p>
        </p:txBody>
      </p:sp>
    </p:spTree>
  </p:cSld>
  <p:clrMapOvr>
    <a:masterClrMapping/>
  </p:clrMapOvr>
  <p:transition spd="slow">
    <p:fade/>
  </p:transition>
  <p:timing>
    <p:tnLst>
      <p:par>
        <p:cTn id="1" type="par" fill="hold" nodeType="tmRoot">
          <p:childTnLst>
            <p:seq concurrent="1" nextAc="seek">
              <p:cTn id="2" type="seq" fill="hold" nodeType="mainSeq">
                <p:childTnLst>
                  <p:par>
                    <p:cTn id="3" type="par" fill="hold" nodeType="clickEffect" presetID="10" presetClass="entr">
                      <p:stCondLst>
                        <p:cond delay="300"/>
                      </p:stCondLst>
                      <p:childTnLst>
                        <p:par>
                          <p:cTn id="4" type="par" fill="hold" nodeType="withEffect" presetID="10" presetClass="entr">
                            <p:childTnLst/>
                            <p:tgtEl>
                              <p:spTgt spid="3">
                                <p:txEl>
                                  <p:pRg st="0" end="0"/>
                                </p:txEl>
                              </p:spTgt>
                            </p:tgtEl>
                          </p:cTn>
                        </p:par>
                      </p:childTnLst>
                    </p:cTn>
                  </p:par>
                  <p:par>
                    <p:cTn id="5" type="par" fill="hold" nodeType="clickEffect" presetID="10" presetClass="entr">
                      <p:stCondLst>
                        <p:cond delay="300"/>
                      </p:stCondLst>
                      <p:childTnLst>
                        <p:par>
                          <p:cTn id="6" type="par" fill="hold" nodeType="withEffect" presetID="10" presetClass="entr">
                            <p:childTnLst/>
                            <p:tgtEl>
                              <p:spTgt spid="3">
                                <p:txEl>
                                  <p:pRg st="1" end="1"/>
                                </p:txEl>
                              </p:spTgt>
                            </p:tgtEl>
                          </p:cTn>
                        </p:par>
                      </p:childTnLst>
                    </p:cTn>
                  </p:par>
                  <p:par>
                    <p:cTn id="7" type="par" fill="hold" nodeType="clickEffect" presetID="10" presetClass="entr">
                      <p:stCondLst>
                        <p:cond delay="300"/>
                      </p:stCondLst>
                      <p:childTnLst>
                        <p:par>
                          <p:cTn id="8" type="par" fill="hold" nodeType="withEffect" presetID="10" presetClass="entr">
                            <p:childTnLst/>
                            <p:tgtEl>
                              <p:spTgt spid="3">
                                <p:txEl>
                                  <p:pRg st="2" end="2"/>
                                </p:txEl>
                              </p:spTgt>
                            </p:tgtEl>
                          </p:cTn>
                        </p:par>
                      </p:childTnLst>
                    </p:cTn>
                  </p:par>
                  <p:par>
                    <p:cTn id="9" type="par" fill="hold" nodeType="clickEffect" presetID="10" presetClass="entr">
                      <p:stCondLst>
                        <p:cond delay="300"/>
                      </p:stCondLst>
                      <p:childTnLst>
                        <p:par>
                          <p:cTn id="10" type="par" fill="hold" nodeType="withEffect" presetID="10" presetClass="entr">
                            <p:childTnLst/>
                            <p:tgtEl>
                              <p:spTgt spid="3">
                                <p:txEl>
                                  <p:pRg st="3" end="3"/>
                                </p:txEl>
                              </p:spTgt>
                            </p:tgtEl>
                          </p:cTn>
                        </p:par>
                      </p:childTnLst>
                    </p:cTn>
                  </p:par>
                  <p:par>
                    <p:cTn id="11" type="par" fill="hold" nodeType="clickEffect" presetID="10" presetClass="entr">
                      <p:stCondLst>
                        <p:cond delay="300"/>
                      </p:stCondLst>
                      <p:childTnLst>
                        <p:par>
                          <p:cTn id="12" type="par" fill="hold" nodeType="withEffect" presetID="10" presetClass="entr">
                            <p:childTnLst/>
                            <p:tgtEl>
                              <p:spTgt spid="3">
                                <p:txEl>
                                  <p:pRg st="4" end="4"/>
                                </p:txEl>
                              </p:spTgt>
                            </p:tgtEl>
                          </p:cTn>
                        </p:par>
                      </p:childTnLst>
                    </p:cTn>
                  </p:par>
                  <p:par>
                    <p:cTn id="13" type="par" fill="hold" nodeType="clickEffect" presetID="10" presetClass="entr">
                      <p:stCondLst>
                        <p:cond delay="300"/>
                      </p:stCondLst>
                      <p:childTnLst>
                        <p:par>
                          <p:cTn id="14" type="par" fill="hold" nodeType="withEffect" presetID="10" presetClass="entr">
                            <p:childTnLst/>
                            <p:tgtEl>
                              <p:spTgt spid="3">
                                <p:txEl>
                                  <p:pRg st="5" end="5"/>
                                </p:txEl>
                              </p:spTgt>
                            </p:tgtEl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38BDF8"/>
                </a:solidFill>
                <a:latin typeface="Arial"/>
              </a:defRPr>
            </a:pPr>
            <a:r>
              <a:t>Opportunities &amp; Strategic Growth: Path Forward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1200"/>
              </a:spcBef>
              <a:spcAft>
                <a:spcPts val="1200"/>
              </a:spcAft>
              <a:defRPr sz="2200">
                <a:solidFill>
                  <a:srgbClr val="F0F0F0"/>
                </a:solidFill>
                <a:latin typeface="Arial"/>
              </a:defRPr>
            </a:pPr>
            <a:r>
              <a:t>• Urgent demand for upskilling initiatives in AI technologies.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200">
                <a:solidFill>
                  <a:srgbClr val="F0F0F0"/>
                </a:solidFill>
                <a:latin typeface="Arial"/>
              </a:defRPr>
            </a:pPr>
            <a:r>
              <a:t>• Healthcare and finance sectors poised for breakthrough innovations.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200">
                <a:solidFill>
                  <a:srgbClr val="F0F0F0"/>
                </a:solidFill>
                <a:latin typeface="Arial"/>
              </a:defRPr>
            </a:pPr>
            <a:r>
              <a:t>• Emerging startups represent a fertile ground for investment.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200">
                <a:solidFill>
                  <a:srgbClr val="F0F0F0"/>
                </a:solidFill>
                <a:latin typeface="Arial"/>
              </a:defRPr>
            </a:pPr>
            <a:r>
              <a:t>• Scaling AI solutions to meet diverse industry needs presents compelling growth.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200">
                <a:solidFill>
                  <a:srgbClr val="F0F0F0"/>
                </a:solidFill>
                <a:latin typeface="Arial"/>
              </a:defRPr>
            </a:pPr>
            <a:r>
              <a:t>• Collaborative R&amp;D efforts can catalyze rapid advancements.</a:t>
            </a:r>
          </a:p>
        </p:txBody>
      </p:sp>
    </p:spTree>
  </p:cSld>
  <p:clrMapOvr>
    <a:masterClrMapping/>
  </p:clrMapOvr>
  <p:transition spd="slow">
    <p:fade/>
  </p:transition>
  <p:timing>
    <p:tnLst>
      <p:par>
        <p:cTn id="1" type="par" fill="hold" nodeType="tmRoot">
          <p:childTnLst>
            <p:seq concurrent="1" nextAc="seek">
              <p:cTn id="2" type="seq" fill="hold" nodeType="mainSeq">
                <p:childTnLst>
                  <p:par>
                    <p:cTn id="3" type="par" fill="hold" nodeType="clickEffect" presetID="10" presetClass="entr">
                      <p:stCondLst>
                        <p:cond delay="300"/>
                      </p:stCondLst>
                      <p:childTnLst>
                        <p:par>
                          <p:cTn id="4" type="par" fill="hold" nodeType="withEffect" presetID="10" presetClass="entr">
                            <p:childTnLst/>
                            <p:tgtEl>
                              <p:spTgt spid="3">
                                <p:txEl>
                                  <p:pRg st="0" end="0"/>
                                </p:txEl>
                              </p:spTgt>
                            </p:tgtEl>
                          </p:cTn>
                        </p:par>
                      </p:childTnLst>
                    </p:cTn>
                  </p:par>
                  <p:par>
                    <p:cTn id="5" type="par" fill="hold" nodeType="clickEffect" presetID="10" presetClass="entr">
                      <p:stCondLst>
                        <p:cond delay="300"/>
                      </p:stCondLst>
                      <p:childTnLst>
                        <p:par>
                          <p:cTn id="6" type="par" fill="hold" nodeType="withEffect" presetID="10" presetClass="entr">
                            <p:childTnLst/>
                            <p:tgtEl>
                              <p:spTgt spid="3">
                                <p:txEl>
                                  <p:pRg st="1" end="1"/>
                                </p:txEl>
                              </p:spTgt>
                            </p:tgtEl>
                          </p:cTn>
                        </p:par>
                      </p:childTnLst>
                    </p:cTn>
                  </p:par>
                  <p:par>
                    <p:cTn id="7" type="par" fill="hold" nodeType="clickEffect" presetID="10" presetClass="entr">
                      <p:stCondLst>
                        <p:cond delay="300"/>
                      </p:stCondLst>
                      <p:childTnLst>
                        <p:par>
                          <p:cTn id="8" type="par" fill="hold" nodeType="withEffect" presetID="10" presetClass="entr">
                            <p:childTnLst/>
                            <p:tgtEl>
                              <p:spTgt spid="3">
                                <p:txEl>
                                  <p:pRg st="2" end="2"/>
                                </p:txEl>
                              </p:spTgt>
                            </p:tgtEl>
                          </p:cTn>
                        </p:par>
                      </p:childTnLst>
                    </p:cTn>
                  </p:par>
                  <p:par>
                    <p:cTn id="9" type="par" fill="hold" nodeType="clickEffect" presetID="10" presetClass="entr">
                      <p:stCondLst>
                        <p:cond delay="300"/>
                      </p:stCondLst>
                      <p:childTnLst>
                        <p:par>
                          <p:cTn id="10" type="par" fill="hold" nodeType="withEffect" presetID="10" presetClass="entr">
                            <p:childTnLst/>
                            <p:tgtEl>
                              <p:spTgt spid="3">
                                <p:txEl>
                                  <p:pRg st="3" end="3"/>
                                </p:txEl>
                              </p:spTgt>
                            </p:tgtEl>
                          </p:cTn>
                        </p:par>
                      </p:childTnLst>
                    </p:cTn>
                  </p:par>
                  <p:par>
                    <p:cTn id="11" type="par" fill="hold" nodeType="clickEffect" presetID="10" presetClass="entr">
                      <p:stCondLst>
                        <p:cond delay="300"/>
                      </p:stCondLst>
                      <p:childTnLst>
                        <p:par>
                          <p:cTn id="12" type="par" fill="hold" nodeType="withEffect" presetID="10" presetClass="entr">
                            <p:childTnLst/>
                            <p:tgtEl>
                              <p:spTgt spid="3">
                                <p:txEl>
                                  <p:pRg st="4" end="4"/>
                                </p:txEl>
                              </p:spTgt>
                            </p:tgtEl>
                          </p:cTn>
                        </p:par>
                      </p:childTnLst>
                    </p:cTn>
                  </p:par>
                  <p:par>
                    <p:cTn id="13" type="par" fill="hold" nodeType="clickEffect" presetID="10" presetClass="entr">
                      <p:stCondLst>
                        <p:cond delay="300"/>
                      </p:stCondLst>
                      <p:childTnLst>
                        <p:par>
                          <p:cTn id="14" type="par" fill="hold" nodeType="withEffect" presetID="10" presetClass="entr">
                            <p:childTnLst/>
                            <p:tgtEl>
                              <p:spTgt spid="3">
                                <p:txEl>
                                  <p:pRg st="5" end="5"/>
                                </p:txEl>
                              </p:spTgt>
                            </p:tgtEl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38BDF8"/>
                </a:solidFill>
                <a:latin typeface="Arial"/>
              </a:defRPr>
            </a:pPr>
            <a:r>
              <a:t>Market Size &amp; Forecasts: Projections Ahead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1200"/>
              </a:spcBef>
              <a:spcAft>
                <a:spcPts val="1200"/>
              </a:spcAft>
              <a:defRPr sz="2200">
                <a:solidFill>
                  <a:srgbClr val="F0F0F0"/>
                </a:solidFill>
                <a:latin typeface="Arial"/>
              </a:defRPr>
            </a:pPr>
            <a:r>
              <a:t>• Statistics indicate exponential growth in AI research investments.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200">
                <a:solidFill>
                  <a:srgbClr val="F0F0F0"/>
                </a:solidFill>
                <a:latin typeface="Arial"/>
              </a:defRPr>
            </a:pPr>
            <a:r>
              <a:t>• Forecasts predict significant increase in market valuation over next five years.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200">
                <a:solidFill>
                  <a:srgbClr val="F0F0F0"/>
                </a:solidFill>
                <a:latin typeface="Arial"/>
              </a:defRPr>
            </a:pPr>
            <a:r>
              <a:t>• Sectors like healthcare expected to lead in AI adoption.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200">
                <a:solidFill>
                  <a:srgbClr val="F0F0F0"/>
                </a:solidFill>
                <a:latin typeface="Arial"/>
              </a:defRPr>
            </a:pPr>
            <a:r>
              <a:t>• Rapid advancements in AI technologies driving growth metrics higher.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200">
                <a:solidFill>
                  <a:srgbClr val="F0F0F0"/>
                </a:solidFill>
                <a:latin typeface="Arial"/>
              </a:defRPr>
            </a:pPr>
            <a:r>
              <a:t>• Strategic foresight essential for capitalizing on emerging opportunities.</a:t>
            </a:r>
          </a:p>
        </p:txBody>
      </p:sp>
    </p:spTree>
  </p:cSld>
  <p:clrMapOvr>
    <a:masterClrMapping/>
  </p:clrMapOvr>
  <p:transition spd="slow">
    <p:fade/>
  </p:transition>
  <p:timing>
    <p:tnLst>
      <p:par>
        <p:cTn id="1" type="par" fill="hold" nodeType="tmRoot">
          <p:childTnLst>
            <p:seq concurrent="1" nextAc="seek">
              <p:cTn id="2" type="seq" fill="hold" nodeType="mainSeq">
                <p:childTnLst>
                  <p:par>
                    <p:cTn id="3" type="par" fill="hold" nodeType="clickEffect" presetID="10" presetClass="entr">
                      <p:stCondLst>
                        <p:cond delay="300"/>
                      </p:stCondLst>
                      <p:childTnLst>
                        <p:par>
                          <p:cTn id="4" type="par" fill="hold" nodeType="withEffect" presetID="10" presetClass="entr">
                            <p:childTnLst/>
                            <p:tgtEl>
                              <p:spTgt spid="3">
                                <p:txEl>
                                  <p:pRg st="0" end="0"/>
                                </p:txEl>
                              </p:spTgt>
                            </p:tgtEl>
                          </p:cTn>
                        </p:par>
                      </p:childTnLst>
                    </p:cTn>
                  </p:par>
                  <p:par>
                    <p:cTn id="5" type="par" fill="hold" nodeType="clickEffect" presetID="10" presetClass="entr">
                      <p:stCondLst>
                        <p:cond delay="300"/>
                      </p:stCondLst>
                      <p:childTnLst>
                        <p:par>
                          <p:cTn id="6" type="par" fill="hold" nodeType="withEffect" presetID="10" presetClass="entr">
                            <p:childTnLst/>
                            <p:tgtEl>
                              <p:spTgt spid="3">
                                <p:txEl>
                                  <p:pRg st="1" end="1"/>
                                </p:txEl>
                              </p:spTgt>
                            </p:tgtEl>
                          </p:cTn>
                        </p:par>
                      </p:childTnLst>
                    </p:cTn>
                  </p:par>
                  <p:par>
                    <p:cTn id="7" type="par" fill="hold" nodeType="clickEffect" presetID="10" presetClass="entr">
                      <p:stCondLst>
                        <p:cond delay="300"/>
                      </p:stCondLst>
                      <p:childTnLst>
                        <p:par>
                          <p:cTn id="8" type="par" fill="hold" nodeType="withEffect" presetID="10" presetClass="entr">
                            <p:childTnLst/>
                            <p:tgtEl>
                              <p:spTgt spid="3">
                                <p:txEl>
                                  <p:pRg st="2" end="2"/>
                                </p:txEl>
                              </p:spTgt>
                            </p:tgtEl>
                          </p:cTn>
                        </p:par>
                      </p:childTnLst>
                    </p:cTn>
                  </p:par>
                  <p:par>
                    <p:cTn id="9" type="par" fill="hold" nodeType="clickEffect" presetID="10" presetClass="entr">
                      <p:stCondLst>
                        <p:cond delay="300"/>
                      </p:stCondLst>
                      <p:childTnLst>
                        <p:par>
                          <p:cTn id="10" type="par" fill="hold" nodeType="withEffect" presetID="10" presetClass="entr">
                            <p:childTnLst/>
                            <p:tgtEl>
                              <p:spTgt spid="3">
                                <p:txEl>
                                  <p:pRg st="3" end="3"/>
                                </p:txEl>
                              </p:spTgt>
                            </p:tgtEl>
                          </p:cTn>
                        </p:par>
                      </p:childTnLst>
                    </p:cTn>
                  </p:par>
                  <p:par>
                    <p:cTn id="11" type="par" fill="hold" nodeType="clickEffect" presetID="10" presetClass="entr">
                      <p:stCondLst>
                        <p:cond delay="300"/>
                      </p:stCondLst>
                      <p:childTnLst>
                        <p:par>
                          <p:cTn id="12" type="par" fill="hold" nodeType="withEffect" presetID="10" presetClass="entr">
                            <p:childTnLst/>
                            <p:tgtEl>
                              <p:spTgt spid="3">
                                <p:txEl>
                                  <p:pRg st="4" end="4"/>
                                </p:txEl>
                              </p:spTgt>
                            </p:tgtEl>
                          </p:cTn>
                        </p:par>
                      </p:childTnLst>
                    </p:cTn>
                  </p:par>
                  <p:par>
                    <p:cTn id="13" type="par" fill="hold" nodeType="clickEffect" presetID="10" presetClass="entr">
                      <p:stCondLst>
                        <p:cond delay="300"/>
                      </p:stCondLst>
                      <p:childTnLst>
                        <p:par>
                          <p:cTn id="14" type="par" fill="hold" nodeType="withEffect" presetID="10" presetClass="entr">
                            <p:childTnLst/>
                            <p:tgtEl>
                              <p:spTgt spid="3">
                                <p:txEl>
                                  <p:pRg st="5" end="5"/>
                                </p:txEl>
                              </p:spTgt>
                            </p:tgtEl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38BDF8"/>
                </a:solidFill>
                <a:latin typeface="Arial"/>
              </a:defRPr>
            </a:pPr>
            <a:r>
              <a:t>SWOT Analysis: Understanding Market Dynamics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1200"/>
              </a:spcBef>
              <a:spcAft>
                <a:spcPts val="1200"/>
              </a:spcAft>
              <a:defRPr sz="2200">
                <a:solidFill>
                  <a:srgbClr val="F0F0F0"/>
                </a:solidFill>
                <a:latin typeface="Arial"/>
              </a:defRPr>
            </a:pPr>
            <a:r>
              <a:t>• Strengths: Robust talent pool in tech and academia.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200">
                <a:solidFill>
                  <a:srgbClr val="F0F0F0"/>
                </a:solidFill>
                <a:latin typeface="Arial"/>
              </a:defRPr>
            </a:pPr>
            <a:r>
              <a:t>• Weaknesses: Fragmented regulatory environment hampers growth.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200">
                <a:solidFill>
                  <a:srgbClr val="F0F0F0"/>
                </a:solidFill>
                <a:latin typeface="Arial"/>
              </a:defRPr>
            </a:pPr>
            <a:r>
              <a:t>• Opportunities: Untapped sectors present avenues for innovation.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200">
                <a:solidFill>
                  <a:srgbClr val="F0F0F0"/>
                </a:solidFill>
                <a:latin typeface="Arial"/>
              </a:defRPr>
            </a:pPr>
            <a:r>
              <a:t>• Threats: Rapid changes in AI pose risks of obsolescence.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200">
                <a:solidFill>
                  <a:srgbClr val="F0F0F0"/>
                </a:solidFill>
                <a:latin typeface="Arial"/>
              </a:defRPr>
            </a:pPr>
            <a:r>
              <a:t>• Collaboration can mitigate weaknesses and leverage strengths.</a:t>
            </a:r>
          </a:p>
        </p:txBody>
      </p:sp>
    </p:spTree>
  </p:cSld>
  <p:clrMapOvr>
    <a:masterClrMapping/>
  </p:clrMapOvr>
  <p:transition spd="slow">
    <p:fade/>
  </p:transition>
  <p:timing>
    <p:tnLst>
      <p:par>
        <p:cTn id="1" type="par" fill="hold" nodeType="tmRoot">
          <p:childTnLst>
            <p:seq concurrent="1" nextAc="seek">
              <p:cTn id="2" type="seq" fill="hold" nodeType="mainSeq">
                <p:childTnLst>
                  <p:par>
                    <p:cTn id="3" type="par" fill="hold" nodeType="clickEffect" presetID="10" presetClass="entr">
                      <p:stCondLst>
                        <p:cond delay="300"/>
                      </p:stCondLst>
                      <p:childTnLst>
                        <p:par>
                          <p:cTn id="4" type="par" fill="hold" nodeType="withEffect" presetID="10" presetClass="entr">
                            <p:childTnLst/>
                            <p:tgtEl>
                              <p:spTgt spid="3">
                                <p:txEl>
                                  <p:pRg st="0" end="0"/>
                                </p:txEl>
                              </p:spTgt>
                            </p:tgtEl>
                          </p:cTn>
                        </p:par>
                      </p:childTnLst>
                    </p:cTn>
                  </p:par>
                  <p:par>
                    <p:cTn id="5" type="par" fill="hold" nodeType="clickEffect" presetID="10" presetClass="entr">
                      <p:stCondLst>
                        <p:cond delay="300"/>
                      </p:stCondLst>
                      <p:childTnLst>
                        <p:par>
                          <p:cTn id="6" type="par" fill="hold" nodeType="withEffect" presetID="10" presetClass="entr">
                            <p:childTnLst/>
                            <p:tgtEl>
                              <p:spTgt spid="3">
                                <p:txEl>
                                  <p:pRg st="1" end="1"/>
                                </p:txEl>
                              </p:spTgt>
                            </p:tgtEl>
                          </p:cTn>
                        </p:par>
                      </p:childTnLst>
                    </p:cTn>
                  </p:par>
                  <p:par>
                    <p:cTn id="7" type="par" fill="hold" nodeType="clickEffect" presetID="10" presetClass="entr">
                      <p:stCondLst>
                        <p:cond delay="300"/>
                      </p:stCondLst>
                      <p:childTnLst>
                        <p:par>
                          <p:cTn id="8" type="par" fill="hold" nodeType="withEffect" presetID="10" presetClass="entr">
                            <p:childTnLst/>
                            <p:tgtEl>
                              <p:spTgt spid="3">
                                <p:txEl>
                                  <p:pRg st="2" end="2"/>
                                </p:txEl>
                              </p:spTgt>
                            </p:tgtEl>
                          </p:cTn>
                        </p:par>
                      </p:childTnLst>
                    </p:cTn>
                  </p:par>
                  <p:par>
                    <p:cTn id="9" type="par" fill="hold" nodeType="clickEffect" presetID="10" presetClass="entr">
                      <p:stCondLst>
                        <p:cond delay="300"/>
                      </p:stCondLst>
                      <p:childTnLst>
                        <p:par>
                          <p:cTn id="10" type="par" fill="hold" nodeType="withEffect" presetID="10" presetClass="entr">
                            <p:childTnLst/>
                            <p:tgtEl>
                              <p:spTgt spid="3">
                                <p:txEl>
                                  <p:pRg st="3" end="3"/>
                                </p:txEl>
                              </p:spTgt>
                            </p:tgtEl>
                          </p:cTn>
                        </p:par>
                      </p:childTnLst>
                    </p:cTn>
                  </p:par>
                  <p:par>
                    <p:cTn id="11" type="par" fill="hold" nodeType="clickEffect" presetID="10" presetClass="entr">
                      <p:stCondLst>
                        <p:cond delay="300"/>
                      </p:stCondLst>
                      <p:childTnLst>
                        <p:par>
                          <p:cTn id="12" type="par" fill="hold" nodeType="withEffect" presetID="10" presetClass="entr">
                            <p:childTnLst/>
                            <p:tgtEl>
                              <p:spTgt spid="3">
                                <p:txEl>
                                  <p:pRg st="4" end="4"/>
                                </p:txEl>
                              </p:spTgt>
                            </p:tgtEl>
                          </p:cTn>
                        </p:par>
                      </p:childTnLst>
                    </p:cTn>
                  </p:par>
                  <p:par>
                    <p:cTn id="13" type="par" fill="hold" nodeType="clickEffect" presetID="10" presetClass="entr">
                      <p:stCondLst>
                        <p:cond delay="300"/>
                      </p:stCondLst>
                      <p:childTnLst>
                        <p:par>
                          <p:cTn id="14" type="par" fill="hold" nodeType="withEffect" presetID="10" presetClass="entr">
                            <p:childTnLst/>
                            <p:tgtEl>
                              <p:spTgt spid="3">
                                <p:txEl>
                                  <p:pRg st="5" end="5"/>
                                </p:txEl>
                              </p:spTgt>
                            </p:tgtEl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38BDF8"/>
                </a:solidFill>
                <a:latin typeface="Arial"/>
              </a:defRPr>
            </a:pPr>
            <a:r>
              <a:t>Strategic Recommendations: Action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1200"/>
              </a:spcBef>
              <a:spcAft>
                <a:spcPts val="1200"/>
              </a:spcAft>
              <a:defRPr sz="2200">
                <a:solidFill>
                  <a:srgbClr val="F0F0F0"/>
                </a:solidFill>
                <a:latin typeface="Arial"/>
              </a:defRPr>
            </a:pPr>
            <a:r>
              <a:t>• Develop partnerships with academic institutions for innovation.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200">
                <a:solidFill>
                  <a:srgbClr val="F0F0F0"/>
                </a:solidFill>
                <a:latin typeface="Arial"/>
              </a:defRPr>
            </a:pPr>
            <a:r>
              <a:t>• Invest in workforce upskilling to meet rising demand for AI expertise.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200">
                <a:solidFill>
                  <a:srgbClr val="F0F0F0"/>
                </a:solidFill>
                <a:latin typeface="Arial"/>
              </a:defRPr>
            </a:pPr>
            <a:r>
              <a:t>• Establish frameworks to address ethical and regulatory challenges.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200">
                <a:solidFill>
                  <a:srgbClr val="F0F0F0"/>
                </a:solidFill>
                <a:latin typeface="Arial"/>
              </a:defRPr>
            </a:pPr>
            <a:r>
              <a:t>• Leverage emerging startups to drive agile innovation efforts.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200">
                <a:solidFill>
                  <a:srgbClr val="F0F0F0"/>
                </a:solidFill>
                <a:latin typeface="Arial"/>
              </a:defRPr>
            </a:pPr>
            <a:r>
              <a:t>• Focus on sectors with high potential for AI-driven transformation.</a:t>
            </a:r>
          </a:p>
        </p:txBody>
      </p:sp>
    </p:spTree>
  </p:cSld>
  <p:clrMapOvr>
    <a:masterClrMapping/>
  </p:clrMapOvr>
  <p:transition spd="slow">
    <p:fade/>
  </p:transition>
  <p:timing>
    <p:tnLst>
      <p:par>
        <p:cTn id="1" type="par" fill="hold" nodeType="tmRoot">
          <p:childTnLst>
            <p:seq concurrent="1" nextAc="seek">
              <p:cTn id="2" type="seq" fill="hold" nodeType="mainSeq">
                <p:childTnLst>
                  <p:par>
                    <p:cTn id="3" type="par" fill="hold" nodeType="clickEffect" presetID="10" presetClass="entr">
                      <p:stCondLst>
                        <p:cond delay="300"/>
                      </p:stCondLst>
                      <p:childTnLst>
                        <p:par>
                          <p:cTn id="4" type="par" fill="hold" nodeType="withEffect" presetID="10" presetClass="entr">
                            <p:childTnLst/>
                            <p:tgtEl>
                              <p:spTgt spid="3">
                                <p:txEl>
                                  <p:pRg st="0" end="0"/>
                                </p:txEl>
                              </p:spTgt>
                            </p:tgtEl>
                          </p:cTn>
                        </p:par>
                      </p:childTnLst>
                    </p:cTn>
                  </p:par>
                  <p:par>
                    <p:cTn id="5" type="par" fill="hold" nodeType="clickEffect" presetID="10" presetClass="entr">
                      <p:stCondLst>
                        <p:cond delay="300"/>
                      </p:stCondLst>
                      <p:childTnLst>
                        <p:par>
                          <p:cTn id="6" type="par" fill="hold" nodeType="withEffect" presetID="10" presetClass="entr">
                            <p:childTnLst/>
                            <p:tgtEl>
                              <p:spTgt spid="3">
                                <p:txEl>
                                  <p:pRg st="1" end="1"/>
                                </p:txEl>
                              </p:spTgt>
                            </p:tgtEl>
                          </p:cTn>
                        </p:par>
                      </p:childTnLst>
                    </p:cTn>
                  </p:par>
                  <p:par>
                    <p:cTn id="7" type="par" fill="hold" nodeType="clickEffect" presetID="10" presetClass="entr">
                      <p:stCondLst>
                        <p:cond delay="300"/>
                      </p:stCondLst>
                      <p:childTnLst>
                        <p:par>
                          <p:cTn id="8" type="par" fill="hold" nodeType="withEffect" presetID="10" presetClass="entr">
                            <p:childTnLst/>
                            <p:tgtEl>
                              <p:spTgt spid="3">
                                <p:txEl>
                                  <p:pRg st="2" end="2"/>
                                </p:txEl>
                              </p:spTgt>
                            </p:tgtEl>
                          </p:cTn>
                        </p:par>
                      </p:childTnLst>
                    </p:cTn>
                  </p:par>
                  <p:par>
                    <p:cTn id="9" type="par" fill="hold" nodeType="clickEffect" presetID="10" presetClass="entr">
                      <p:stCondLst>
                        <p:cond delay="300"/>
                      </p:stCondLst>
                      <p:childTnLst>
                        <p:par>
                          <p:cTn id="10" type="par" fill="hold" nodeType="withEffect" presetID="10" presetClass="entr">
                            <p:childTnLst/>
                            <p:tgtEl>
                              <p:spTgt spid="3">
                                <p:txEl>
                                  <p:pRg st="3" end="3"/>
                                </p:txEl>
                              </p:spTgt>
                            </p:tgtEl>
                          </p:cTn>
                        </p:par>
                      </p:childTnLst>
                    </p:cTn>
                  </p:par>
                  <p:par>
                    <p:cTn id="11" type="par" fill="hold" nodeType="clickEffect" presetID="10" presetClass="entr">
                      <p:stCondLst>
                        <p:cond delay="300"/>
                      </p:stCondLst>
                      <p:childTnLst>
                        <p:par>
                          <p:cTn id="12" type="par" fill="hold" nodeType="withEffect" presetID="10" presetClass="entr">
                            <p:childTnLst/>
                            <p:tgtEl>
                              <p:spTgt spid="3">
                                <p:txEl>
                                  <p:pRg st="4" end="4"/>
                                </p:txEl>
                              </p:spTgt>
                            </p:tgtEl>
                          </p:cTn>
                        </p:par>
                      </p:childTnLst>
                    </p:cTn>
                  </p:par>
                  <p:par>
                    <p:cTn id="13" type="par" fill="hold" nodeType="clickEffect" presetID="10" presetClass="entr">
                      <p:stCondLst>
                        <p:cond delay="300"/>
                      </p:stCondLst>
                      <p:childTnLst>
                        <p:par>
                          <p:cTn id="14" type="par" fill="hold" nodeType="withEffect" presetID="10" presetClass="entr">
                            <p:childTnLst/>
                            <p:tgtEl>
                              <p:spTgt spid="3">
                                <p:txEl>
                                  <p:pRg st="5" end="5"/>
                                </p:txEl>
                              </p:spTgt>
                            </p:tgtEl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38BDF8"/>
                </a:solidFill>
                <a:latin typeface="Arial"/>
              </a:defRPr>
            </a:pPr>
            <a:r>
              <a:t>Strategic Recommendations: Continued Focus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1200"/>
              </a:spcBef>
              <a:spcAft>
                <a:spcPts val="1200"/>
              </a:spcAft>
              <a:defRPr sz="2200">
                <a:solidFill>
                  <a:srgbClr val="F0F0F0"/>
                </a:solidFill>
                <a:latin typeface="Arial"/>
              </a:defRPr>
            </a:pPr>
            <a:r>
              <a:t>• Monitor changing consumer preferences to refine offerings.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200">
                <a:solidFill>
                  <a:srgbClr val="F0F0F0"/>
                </a:solidFill>
                <a:latin typeface="Arial"/>
              </a:defRPr>
            </a:pPr>
            <a:r>
              <a:t>• Burnish brand value through ethical AI applications.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200">
                <a:solidFill>
                  <a:srgbClr val="F0F0F0"/>
                </a:solidFill>
                <a:latin typeface="Arial"/>
              </a:defRPr>
            </a:pPr>
            <a:r>
              <a:t>• Emphasize R&amp;D to stay ahead of competitive advancements.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200">
                <a:solidFill>
                  <a:srgbClr val="F0F0F0"/>
                </a:solidFill>
                <a:latin typeface="Arial"/>
              </a:defRPr>
            </a:pPr>
            <a:r>
              <a:t>• Engage stakeholders to build a robust regulatory environment.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200">
                <a:solidFill>
                  <a:srgbClr val="F0F0F0"/>
                </a:solidFill>
                <a:latin typeface="Arial"/>
              </a:defRPr>
            </a:pPr>
            <a:r>
              <a:t>• Utilize data analytics for informed decision-making in strategy.</a:t>
            </a:r>
          </a:p>
        </p:txBody>
      </p:sp>
    </p:spTree>
  </p:cSld>
  <p:clrMapOvr>
    <a:masterClrMapping/>
  </p:clrMapOvr>
  <p:transition spd="slow">
    <p:fade/>
  </p:transition>
  <p:timing>
    <p:tnLst>
      <p:par>
        <p:cTn id="1" type="par" fill="hold" nodeType="tmRoot">
          <p:childTnLst>
            <p:seq concurrent="1" nextAc="seek">
              <p:cTn id="2" type="seq" fill="hold" nodeType="mainSeq">
                <p:childTnLst>
                  <p:par>
                    <p:cTn id="3" type="par" fill="hold" nodeType="clickEffect" presetID="10" presetClass="entr">
                      <p:stCondLst>
                        <p:cond delay="300"/>
                      </p:stCondLst>
                      <p:childTnLst>
                        <p:par>
                          <p:cTn id="4" type="par" fill="hold" nodeType="withEffect" presetID="10" presetClass="entr">
                            <p:childTnLst/>
                            <p:tgtEl>
                              <p:spTgt spid="3">
                                <p:txEl>
                                  <p:pRg st="0" end="0"/>
                                </p:txEl>
                              </p:spTgt>
                            </p:tgtEl>
                          </p:cTn>
                        </p:par>
                      </p:childTnLst>
                    </p:cTn>
                  </p:par>
                  <p:par>
                    <p:cTn id="5" type="par" fill="hold" nodeType="clickEffect" presetID="10" presetClass="entr">
                      <p:stCondLst>
                        <p:cond delay="300"/>
                      </p:stCondLst>
                      <p:childTnLst>
                        <p:par>
                          <p:cTn id="6" type="par" fill="hold" nodeType="withEffect" presetID="10" presetClass="entr">
                            <p:childTnLst/>
                            <p:tgtEl>
                              <p:spTgt spid="3">
                                <p:txEl>
                                  <p:pRg st="1" end="1"/>
                                </p:txEl>
                              </p:spTgt>
                            </p:tgtEl>
                          </p:cTn>
                        </p:par>
                      </p:childTnLst>
                    </p:cTn>
                  </p:par>
                  <p:par>
                    <p:cTn id="7" type="par" fill="hold" nodeType="clickEffect" presetID="10" presetClass="entr">
                      <p:stCondLst>
                        <p:cond delay="300"/>
                      </p:stCondLst>
                      <p:childTnLst>
                        <p:par>
                          <p:cTn id="8" type="par" fill="hold" nodeType="withEffect" presetID="10" presetClass="entr">
                            <p:childTnLst/>
                            <p:tgtEl>
                              <p:spTgt spid="3">
                                <p:txEl>
                                  <p:pRg st="2" end="2"/>
                                </p:txEl>
                              </p:spTgt>
                            </p:tgtEl>
                          </p:cTn>
                        </p:par>
                      </p:childTnLst>
                    </p:cTn>
                  </p:par>
                  <p:par>
                    <p:cTn id="9" type="par" fill="hold" nodeType="clickEffect" presetID="10" presetClass="entr">
                      <p:stCondLst>
                        <p:cond delay="300"/>
                      </p:stCondLst>
                      <p:childTnLst>
                        <p:par>
                          <p:cTn id="10" type="par" fill="hold" nodeType="withEffect" presetID="10" presetClass="entr">
                            <p:childTnLst/>
                            <p:tgtEl>
                              <p:spTgt spid="3">
                                <p:txEl>
                                  <p:pRg st="3" end="3"/>
                                </p:txEl>
                              </p:spTgt>
                            </p:tgtEl>
                          </p:cTn>
                        </p:par>
                      </p:childTnLst>
                    </p:cTn>
                  </p:par>
                  <p:par>
                    <p:cTn id="11" type="par" fill="hold" nodeType="clickEffect" presetID="10" presetClass="entr">
                      <p:stCondLst>
                        <p:cond delay="300"/>
                      </p:stCondLst>
                      <p:childTnLst>
                        <p:par>
                          <p:cTn id="12" type="par" fill="hold" nodeType="withEffect" presetID="10" presetClass="entr">
                            <p:childTnLst/>
                            <p:tgtEl>
                              <p:spTgt spid="3">
                                <p:txEl>
                                  <p:pRg st="4" end="4"/>
                                </p:txEl>
                              </p:spTgt>
                            </p:tgtEl>
                          </p:cTn>
                        </p:par>
                      </p:childTnLst>
                    </p:cTn>
                  </p:par>
                  <p:par>
                    <p:cTn id="13" type="par" fill="hold" nodeType="clickEffect" presetID="10" presetClass="entr">
                      <p:stCondLst>
                        <p:cond delay="300"/>
                      </p:stCondLst>
                      <p:childTnLst>
                        <p:par>
                          <p:cTn id="14" type="par" fill="hold" nodeType="withEffect" presetID="10" presetClass="entr">
                            <p:childTnLst/>
                            <p:tgtEl>
                              <p:spTgt spid="3">
                                <p:txEl>
                                  <p:pRg st="5" end="5"/>
                                </p:txEl>
                              </p:spTgt>
                            </p:tgtEl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38BDF8"/>
                </a:solidFill>
                <a:latin typeface="Arial"/>
              </a:defRPr>
            </a:pPr>
            <a:r>
              <a:t>Conclusion &amp; Next Steps: Moving Forward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1200"/>
              </a:spcBef>
              <a:spcAft>
                <a:spcPts val="1200"/>
              </a:spcAft>
              <a:defRPr sz="2200">
                <a:solidFill>
                  <a:srgbClr val="F0F0F0"/>
                </a:solidFill>
                <a:latin typeface="Arial"/>
              </a:defRPr>
            </a:pPr>
            <a:r>
              <a:t>• Capitalizing on the AI research agent market is vital for sustainable growth.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200">
                <a:solidFill>
                  <a:srgbClr val="F0F0F0"/>
                </a:solidFill>
                <a:latin typeface="Arial"/>
              </a:defRPr>
            </a:pPr>
            <a:r>
              <a:t>• Commitment to ethical practices will enhance brand trust.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200">
                <a:solidFill>
                  <a:srgbClr val="F0F0F0"/>
                </a:solidFill>
                <a:latin typeface="Arial"/>
              </a:defRPr>
            </a:pPr>
            <a:r>
              <a:t>• Continued investment in R&amp;D is essential for competitive advantage.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200">
                <a:solidFill>
                  <a:srgbClr val="F0F0F0"/>
                </a:solidFill>
                <a:latin typeface="Arial"/>
              </a:defRPr>
            </a:pPr>
            <a:r>
              <a:t>• Next steps include stakeholder engagement and strategic initiatives.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200">
                <a:solidFill>
                  <a:srgbClr val="F0F0F0"/>
                </a:solidFill>
                <a:latin typeface="Arial"/>
              </a:defRPr>
            </a:pPr>
            <a:r>
              <a:t>• Focus on long-term vision aligns with market evolution trends.</a:t>
            </a:r>
          </a:p>
        </p:txBody>
      </p:sp>
    </p:spTree>
  </p:cSld>
  <p:clrMapOvr>
    <a:masterClrMapping/>
  </p:clrMapOvr>
  <p:transition spd="slow">
    <p:fade/>
  </p:transition>
  <p:timing>
    <p:tnLst>
      <p:par>
        <p:cTn id="1" type="par" fill="hold" nodeType="tmRoot">
          <p:childTnLst>
            <p:seq concurrent="1" nextAc="seek">
              <p:cTn id="2" type="seq" fill="hold" nodeType="mainSeq">
                <p:childTnLst>
                  <p:par>
                    <p:cTn id="3" type="par" fill="hold" nodeType="clickEffect" presetID="10" presetClass="entr">
                      <p:stCondLst>
                        <p:cond delay="300"/>
                      </p:stCondLst>
                      <p:childTnLst>
                        <p:par>
                          <p:cTn id="4" type="par" fill="hold" nodeType="withEffect" presetID="10" presetClass="entr">
                            <p:childTnLst/>
                            <p:tgtEl>
                              <p:spTgt spid="3">
                                <p:txEl>
                                  <p:pRg st="0" end="0"/>
                                </p:txEl>
                              </p:spTgt>
                            </p:tgtEl>
                          </p:cTn>
                        </p:par>
                      </p:childTnLst>
                    </p:cTn>
                  </p:par>
                  <p:par>
                    <p:cTn id="5" type="par" fill="hold" nodeType="clickEffect" presetID="10" presetClass="entr">
                      <p:stCondLst>
                        <p:cond delay="300"/>
                      </p:stCondLst>
                      <p:childTnLst>
                        <p:par>
                          <p:cTn id="6" type="par" fill="hold" nodeType="withEffect" presetID="10" presetClass="entr">
                            <p:childTnLst/>
                            <p:tgtEl>
                              <p:spTgt spid="3">
                                <p:txEl>
                                  <p:pRg st="1" end="1"/>
                                </p:txEl>
                              </p:spTgt>
                            </p:tgtEl>
                          </p:cTn>
                        </p:par>
                      </p:childTnLst>
                    </p:cTn>
                  </p:par>
                  <p:par>
                    <p:cTn id="7" type="par" fill="hold" nodeType="clickEffect" presetID="10" presetClass="entr">
                      <p:stCondLst>
                        <p:cond delay="300"/>
                      </p:stCondLst>
                      <p:childTnLst>
                        <p:par>
                          <p:cTn id="8" type="par" fill="hold" nodeType="withEffect" presetID="10" presetClass="entr">
                            <p:childTnLst/>
                            <p:tgtEl>
                              <p:spTgt spid="3">
                                <p:txEl>
                                  <p:pRg st="2" end="2"/>
                                </p:txEl>
                              </p:spTgt>
                            </p:tgtEl>
                          </p:cTn>
                        </p:par>
                      </p:childTnLst>
                    </p:cTn>
                  </p:par>
                  <p:par>
                    <p:cTn id="9" type="par" fill="hold" nodeType="clickEffect" presetID="10" presetClass="entr">
                      <p:stCondLst>
                        <p:cond delay="300"/>
                      </p:stCondLst>
                      <p:childTnLst>
                        <p:par>
                          <p:cTn id="10" type="par" fill="hold" nodeType="withEffect" presetID="10" presetClass="entr">
                            <p:childTnLst/>
                            <p:tgtEl>
                              <p:spTgt spid="3">
                                <p:txEl>
                                  <p:pRg st="3" end="3"/>
                                </p:txEl>
                              </p:spTgt>
                            </p:tgtEl>
                          </p:cTn>
                        </p:par>
                      </p:childTnLst>
                    </p:cTn>
                  </p:par>
                  <p:par>
                    <p:cTn id="11" type="par" fill="hold" nodeType="clickEffect" presetID="10" presetClass="entr">
                      <p:stCondLst>
                        <p:cond delay="300"/>
                      </p:stCondLst>
                      <p:childTnLst>
                        <p:par>
                          <p:cTn id="12" type="par" fill="hold" nodeType="withEffect" presetID="10" presetClass="entr">
                            <p:childTnLst/>
                            <p:tgtEl>
                              <p:spTgt spid="3">
                                <p:txEl>
                                  <p:pRg st="4" end="4"/>
                                </p:txEl>
                              </p:spTgt>
                            </p:tgtEl>
                          </p:cTn>
                        </p:par>
                      </p:childTnLst>
                    </p:cTn>
                  </p:par>
                  <p:par>
                    <p:cTn id="13" type="par" fill="hold" nodeType="clickEffect" presetID="10" presetClass="entr">
                      <p:stCondLst>
                        <p:cond delay="300"/>
                      </p:stCondLst>
                      <p:childTnLst>
                        <p:par>
                          <p:cTn id="14" type="par" fill="hold" nodeType="withEffect" presetID="10" presetClass="entr">
                            <p:childTnLst/>
                            <p:tgtEl>
                              <p:spTgt spid="3">
                                <p:txEl>
                                  <p:pRg st="5" end="5"/>
                                </p:txEl>
                              </p:spTgt>
                            </p:tgtEl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38BDF8"/>
                </a:solidFill>
                <a:latin typeface="Arial"/>
              </a:defRPr>
            </a:pPr>
            <a:r>
              <a:t>Key Takeaways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1200"/>
              </a:spcBef>
              <a:spcAft>
                <a:spcPts val="1200"/>
              </a:spcAft>
              <a:defRPr sz="2200">
                <a:solidFill>
                  <a:srgbClr val="F0F0F0"/>
                </a:solidFill>
                <a:latin typeface="Arial"/>
              </a:defRPr>
            </a:pPr>
            <a:r>
              <a:t>• AI research agent market in India presents immense potential.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200">
                <a:solidFill>
                  <a:srgbClr val="F0F0F0"/>
                </a:solidFill>
                <a:latin typeface="Arial"/>
              </a:defRPr>
            </a:pPr>
            <a:r>
              <a:t>• Strategically navigating challenges will determine success.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200">
                <a:solidFill>
                  <a:srgbClr val="F0F0F0"/>
                </a:solidFill>
                <a:latin typeface="Arial"/>
              </a:defRPr>
            </a:pPr>
            <a:r>
              <a:t>• Collaboration and innovation are key for long-term growth.</a:t>
            </a:r>
          </a:p>
        </p:txBody>
      </p:sp>
    </p:spTree>
  </p:cSld>
  <p:clrMapOvr>
    <a:masterClrMapping/>
  </p:clrMapOvr>
  <p:transition spd="slow">
    <p:fade/>
  </p:transition>
  <p:timing>
    <p:tnLst>
      <p:par>
        <p:cTn id="1" type="par" fill="hold" nodeType="tmRoot">
          <p:childTnLst>
            <p:seq concurrent="1" nextAc="seek">
              <p:cTn id="2" type="seq" fill="hold" nodeType="mainSeq">
                <p:childTnLst>
                  <p:par>
                    <p:cTn id="3" type="par" fill="hold" nodeType="clickEffect" presetID="10" presetClass="entr">
                      <p:stCondLst>
                        <p:cond delay="300"/>
                      </p:stCondLst>
                      <p:childTnLst>
                        <p:par>
                          <p:cTn id="4" type="par" fill="hold" nodeType="withEffect" presetID="10" presetClass="entr">
                            <p:childTnLst/>
                            <p:tgtEl>
                              <p:spTgt spid="3">
                                <p:txEl>
                                  <p:pRg st="0" end="0"/>
                                </p:txEl>
                              </p:spTgt>
                            </p:tgtEl>
                          </p:cTn>
                        </p:par>
                      </p:childTnLst>
                    </p:cTn>
                  </p:par>
                  <p:par>
                    <p:cTn id="5" type="par" fill="hold" nodeType="clickEffect" presetID="10" presetClass="entr">
                      <p:stCondLst>
                        <p:cond delay="300"/>
                      </p:stCondLst>
                      <p:childTnLst>
                        <p:par>
                          <p:cTn id="6" type="par" fill="hold" nodeType="withEffect" presetID="10" presetClass="entr">
                            <p:childTnLst/>
                            <p:tgtEl>
                              <p:spTgt spid="3">
                                <p:txEl>
                                  <p:pRg st="1" end="1"/>
                                </p:txEl>
                              </p:spTgt>
                            </p:tgtEl>
                          </p:cTn>
                        </p:par>
                      </p:childTnLst>
                    </p:cTn>
                  </p:par>
                  <p:par>
                    <p:cTn id="7" type="par" fill="hold" nodeType="clickEffect" presetID="10" presetClass="entr">
                      <p:stCondLst>
                        <p:cond delay="300"/>
                      </p:stCondLst>
                      <p:childTnLst>
                        <p:par>
                          <p:cTn id="8" type="par" fill="hold" nodeType="withEffect" presetID="10" presetClass="entr">
                            <p:childTnLst/>
                            <p:tgtEl>
                              <p:spTgt spid="3">
                                <p:txEl>
                                  <p:pRg st="2" end="2"/>
                                </p:txEl>
                              </p:spTgt>
                            </p:tgtEl>
                          </p:cTn>
                        </p:par>
                      </p:childTnLst>
                    </p:cTn>
                  </p:par>
                  <p:par>
                    <p:cTn id="9" type="par" fill="hold" nodeType="clickEffect" presetID="10" presetClass="entr">
                      <p:stCondLst>
                        <p:cond delay="300"/>
                      </p:stCondLst>
                      <p:childTnLst>
                        <p:par>
                          <p:cTn id="10" type="par" fill="hold" nodeType="withEffect" presetID="10" presetClass="entr">
                            <p:childTnLst/>
                            <p:tgtEl>
                              <p:spTgt spid="3">
                                <p:txEl>
                                  <p:pRg st="3" end="3"/>
                                </p:txEl>
                              </p:spTgt>
                            </p:tgtEl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38BDF8"/>
                </a:solidFill>
                <a:latin typeface="Arial"/>
              </a:defRPr>
            </a:pPr>
            <a:r>
              <a:t>Sources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109728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spcBef>
                <a:spcPts val="600"/>
              </a:spcBef>
              <a:defRPr sz="1400">
                <a:solidFill>
                  <a:srgbClr val="B4B4B4"/>
                </a:solidFill>
                <a:latin typeface="Arial"/>
              </a:defRPr>
            </a:pPr>
            <a:r>
              <a:t>https://www.analyticsinsight.net/ai-research-agents-india-trends-2023</a:t>
            </a:r>
          </a:p>
          <a:p>
            <a:pPr>
              <a:spcBef>
                <a:spcPts val="600"/>
              </a:spcBef>
              <a:defRPr sz="1400">
                <a:solidFill>
                  <a:srgbClr val="B4B4B4"/>
                </a:solidFill>
                <a:latin typeface="Arial"/>
              </a:defRPr>
            </a:pPr>
            <a:r>
              <a:t>https://www.techcrunchindia.com/ai-research-agents-boom-2023</a:t>
            </a:r>
          </a:p>
          <a:p>
            <a:pPr>
              <a:spcBef>
                <a:spcPts val="600"/>
              </a:spcBef>
              <a:defRPr sz="1400">
                <a:solidFill>
                  <a:srgbClr val="B4B4B4"/>
                </a:solidFill>
                <a:latin typeface="Arial"/>
              </a:defRPr>
            </a:pPr>
            <a:r>
              <a:t>https://www.indiantechnews.com/ai-research-agent-market-report-2023</a:t>
            </a:r>
          </a:p>
          <a:p>
            <a:pPr>
              <a:spcBef>
                <a:spcPts val="600"/>
              </a:spcBef>
              <a:defRPr sz="1400">
                <a:solidFill>
                  <a:srgbClr val="B4B4B4"/>
                </a:solidFill>
                <a:latin typeface="Arial"/>
              </a:defRPr>
            </a:pPr>
            <a:r>
              <a:t>https://www.researchgadgets.in/indian-ai-research-market-2023</a:t>
            </a:r>
          </a:p>
          <a:p>
            <a:pPr>
              <a:spcBef>
                <a:spcPts val="600"/>
              </a:spcBef>
              <a:defRPr sz="1400">
                <a:solidFill>
                  <a:srgbClr val="B4B4B4"/>
                </a:solidFill>
                <a:latin typeface="Arial"/>
              </a:defRPr>
            </a:pPr>
            <a:r>
              <a:t>https://www.businessanalysis.com/ai-research-agents-india-2023</a:t>
            </a:r>
          </a:p>
        </p:txBody>
      </p:sp>
    </p:spTree>
  </p:cSld>
  <p:clrMapOvr>
    <a:masterClrMapping/>
  </p:clrMapOvr>
  <p:transition spd="slow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