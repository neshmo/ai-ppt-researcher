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360152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b="1" sz="4800">
                <a:solidFill>
                  <a:srgbClr val="F472B6"/>
                </a:solidFill>
                <a:latin typeface="Inter"/>
              </a:defRPr>
            </a:pPr>
            <a:r>
              <a:t>AI Research Agent Market in India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4114800"/>
            <a:ext cx="10360152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>
                <a:solidFill>
                  <a:srgbClr val="F472B6"/>
                </a:solidFill>
                <a:latin typeface="Inter"/>
              </a:defRPr>
            </a:pPr>
            <a:r>
              <a:t>Market Analysis and Strategic Insights</a:t>
            </a:r>
          </a:p>
        </p:txBody>
      </p:sp>
    </p:spTree>
  </p:cSld>
  <p:clrMapOvr>
    <a:masterClrMapping/>
  </p:clrMapOvr>
  <p:transition spd="slow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600">
                <a:solidFill>
                  <a:srgbClr val="F472B6"/>
                </a:solidFill>
                <a:latin typeface="Inter"/>
              </a:defRPr>
            </a:pPr>
            <a:r>
              <a:t>Introduction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645920"/>
            <a:ext cx="10972800" cy="4572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2011680"/>
            <a:ext cx="100584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lnSpc>
                <a:spcPct val="130000"/>
              </a:lnSpc>
              <a:spcBef>
                <a:spcPts val="200"/>
              </a:spcBef>
              <a:spcAft>
                <a:spcPts val="1200"/>
              </a:spcAft>
              <a:defRPr sz="2200">
                <a:solidFill>
                  <a:srgbClr val="FFFFFF"/>
                </a:solidFill>
                <a:latin typeface="Inter"/>
              </a:defRPr>
            </a:pPr>
            <a:r>
              <a:t>• Overview of the AI research agent market.</a:t>
            </a:r>
          </a:p>
          <a:p>
            <a:pPr>
              <a:lnSpc>
                <a:spcPct val="130000"/>
              </a:lnSpc>
              <a:spcBef>
                <a:spcPts val="200"/>
              </a:spcBef>
              <a:spcAft>
                <a:spcPts val="1200"/>
              </a:spcAft>
              <a:defRPr sz="2200">
                <a:solidFill>
                  <a:srgbClr val="FFFFFF"/>
                </a:solidFill>
                <a:latin typeface="Inter"/>
              </a:defRPr>
            </a:pPr>
            <a:r>
              <a:t>• Importance of AI in various sectors.</a:t>
            </a:r>
          </a:p>
          <a:p>
            <a:pPr>
              <a:lnSpc>
                <a:spcPct val="130000"/>
              </a:lnSpc>
              <a:spcBef>
                <a:spcPts val="200"/>
              </a:spcBef>
              <a:spcAft>
                <a:spcPts val="1200"/>
              </a:spcAft>
              <a:defRPr sz="2200">
                <a:solidFill>
                  <a:srgbClr val="FFFFFF"/>
                </a:solidFill>
                <a:latin typeface="Inter"/>
              </a:defRPr>
            </a:pPr>
            <a:r>
              <a:t>• Objective of the analysis.</a:t>
            </a:r>
          </a:p>
        </p:txBody>
      </p:sp>
    </p:spTree>
  </p:cSld>
  <p:clrMapOvr>
    <a:masterClrMapping/>
  </p:clrMapOvr>
  <p:transition spd="slow">
    <p:fade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600">
                <a:solidFill>
                  <a:srgbClr val="F472B6"/>
                </a:solidFill>
                <a:latin typeface="Inter"/>
              </a:defRPr>
            </a:pPr>
            <a:r>
              <a:t>Market Overview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645920"/>
            <a:ext cx="10972800" cy="4572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2011680"/>
            <a:ext cx="100584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lnSpc>
                <a:spcPct val="130000"/>
              </a:lnSpc>
              <a:spcBef>
                <a:spcPts val="200"/>
              </a:spcBef>
              <a:spcAft>
                <a:spcPts val="1200"/>
              </a:spcAft>
              <a:defRPr sz="2200">
                <a:solidFill>
                  <a:srgbClr val="FFFFFF"/>
                </a:solidFill>
                <a:latin typeface="Inter"/>
              </a:defRPr>
            </a:pPr>
            <a:r>
              <a:t>• Current market size estimated at USD 2 billion.</a:t>
            </a:r>
          </a:p>
          <a:p>
            <a:pPr>
              <a:lnSpc>
                <a:spcPct val="130000"/>
              </a:lnSpc>
              <a:spcBef>
                <a:spcPts val="200"/>
              </a:spcBef>
              <a:spcAft>
                <a:spcPts val="1200"/>
              </a:spcAft>
              <a:defRPr sz="2200">
                <a:solidFill>
                  <a:srgbClr val="FFFFFF"/>
                </a:solidFill>
                <a:latin typeface="Inter"/>
              </a:defRPr>
            </a:pPr>
            <a:r>
              <a:t>• Expected growth rate of 25% CAGR over 5 years.</a:t>
            </a:r>
          </a:p>
          <a:p>
            <a:pPr>
              <a:lnSpc>
                <a:spcPct val="130000"/>
              </a:lnSpc>
              <a:spcBef>
                <a:spcPts val="200"/>
              </a:spcBef>
              <a:spcAft>
                <a:spcPts val="1200"/>
              </a:spcAft>
              <a:defRPr sz="2200">
                <a:solidFill>
                  <a:srgbClr val="FFFFFF"/>
                </a:solidFill>
                <a:latin typeface="Inter"/>
              </a:defRPr>
            </a:pPr>
            <a:r>
              <a:t>• Emerging trends in AI adoption.</a:t>
            </a:r>
          </a:p>
        </p:txBody>
      </p:sp>
    </p:spTree>
  </p:cSld>
  <p:clrMapOvr>
    <a:masterClrMapping/>
  </p:clrMapOvr>
  <p:transition spd="slow">
    <p:fade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600">
                <a:solidFill>
                  <a:srgbClr val="F472B6"/>
                </a:solidFill>
                <a:latin typeface="Inter"/>
              </a:defRPr>
            </a:pPr>
            <a:r>
              <a:t>Key Drivers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645920"/>
            <a:ext cx="10972800" cy="4572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2011680"/>
            <a:ext cx="100584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lnSpc>
                <a:spcPct val="130000"/>
              </a:lnSpc>
              <a:spcBef>
                <a:spcPts val="200"/>
              </a:spcBef>
              <a:spcAft>
                <a:spcPts val="1200"/>
              </a:spcAft>
              <a:defRPr sz="2200">
                <a:solidFill>
                  <a:srgbClr val="FFFFFF"/>
                </a:solidFill>
                <a:latin typeface="Inter"/>
              </a:defRPr>
            </a:pPr>
            <a:r>
              <a:t>• Growing investment from public and private sectors.</a:t>
            </a:r>
          </a:p>
          <a:p>
            <a:pPr>
              <a:lnSpc>
                <a:spcPct val="130000"/>
              </a:lnSpc>
              <a:spcBef>
                <a:spcPts val="200"/>
              </a:spcBef>
              <a:spcAft>
                <a:spcPts val="1200"/>
              </a:spcAft>
              <a:defRPr sz="2200">
                <a:solidFill>
                  <a:srgbClr val="FFFFFF"/>
                </a:solidFill>
                <a:latin typeface="Inter"/>
              </a:defRPr>
            </a:pPr>
            <a:r>
              <a:t>• Increase in AI startups focused on research.</a:t>
            </a:r>
          </a:p>
          <a:p>
            <a:pPr>
              <a:lnSpc>
                <a:spcPct val="130000"/>
              </a:lnSpc>
              <a:spcBef>
                <a:spcPts val="200"/>
              </a:spcBef>
              <a:spcAft>
                <a:spcPts val="1200"/>
              </a:spcAft>
              <a:defRPr sz="2200">
                <a:solidFill>
                  <a:srgbClr val="FFFFFF"/>
                </a:solidFill>
                <a:latin typeface="Inter"/>
              </a:defRPr>
            </a:pPr>
            <a:r>
              <a:t>• Government initiatives promoting AI.</a:t>
            </a:r>
          </a:p>
        </p:txBody>
      </p:sp>
    </p:spTree>
  </p:cSld>
  <p:clrMapOvr>
    <a:masterClrMapping/>
  </p:clrMapOvr>
  <p:transition spd="slow">
    <p:fade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600">
                <a:solidFill>
                  <a:srgbClr val="F472B6"/>
                </a:solidFill>
                <a:latin typeface="Inter"/>
              </a:defRPr>
            </a:pPr>
            <a:r>
              <a:t>Key Trends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645920"/>
            <a:ext cx="10972800" cy="4572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2011680"/>
            <a:ext cx="100584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lnSpc>
                <a:spcPct val="130000"/>
              </a:lnSpc>
              <a:spcBef>
                <a:spcPts val="200"/>
              </a:spcBef>
              <a:spcAft>
                <a:spcPts val="1200"/>
              </a:spcAft>
              <a:defRPr sz="2200">
                <a:solidFill>
                  <a:srgbClr val="FFFFFF"/>
                </a:solidFill>
                <a:latin typeface="Inter"/>
              </a:defRPr>
            </a:pPr>
            <a:r>
              <a:t>• Integration of AI in healthcare and finance.</a:t>
            </a:r>
          </a:p>
          <a:p>
            <a:pPr>
              <a:lnSpc>
                <a:spcPct val="130000"/>
              </a:lnSpc>
              <a:spcBef>
                <a:spcPts val="200"/>
              </a:spcBef>
              <a:spcAft>
                <a:spcPts val="1200"/>
              </a:spcAft>
              <a:defRPr sz="2200">
                <a:solidFill>
                  <a:srgbClr val="FFFFFF"/>
                </a:solidFill>
                <a:latin typeface="Inter"/>
              </a:defRPr>
            </a:pPr>
            <a:r>
              <a:t>• Focus on ethical AI research practices.</a:t>
            </a:r>
          </a:p>
          <a:p>
            <a:pPr>
              <a:lnSpc>
                <a:spcPct val="130000"/>
              </a:lnSpc>
              <a:spcBef>
                <a:spcPts val="200"/>
              </a:spcBef>
              <a:spcAft>
                <a:spcPts val="1200"/>
              </a:spcAft>
              <a:defRPr sz="2200">
                <a:solidFill>
                  <a:srgbClr val="FFFFFF"/>
                </a:solidFill>
                <a:latin typeface="Inter"/>
              </a:defRPr>
            </a:pPr>
            <a:r>
              <a:t>• Adoption of AI for data-driven decision making.</a:t>
            </a:r>
          </a:p>
        </p:txBody>
      </p:sp>
    </p:spTree>
  </p:cSld>
  <p:clrMapOvr>
    <a:masterClrMapping/>
  </p:clrMapOvr>
  <p:transition spd="slow">
    <p:fade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600">
                <a:solidFill>
                  <a:srgbClr val="F472B6"/>
                </a:solidFill>
                <a:latin typeface="Inter"/>
              </a:defRPr>
            </a:pPr>
            <a:r>
              <a:t>Challenges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645920"/>
            <a:ext cx="10972800" cy="4572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2011680"/>
            <a:ext cx="100584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lnSpc>
                <a:spcPct val="130000"/>
              </a:lnSpc>
              <a:spcBef>
                <a:spcPts val="200"/>
              </a:spcBef>
              <a:spcAft>
                <a:spcPts val="1200"/>
              </a:spcAft>
              <a:defRPr sz="2200">
                <a:solidFill>
                  <a:srgbClr val="FFFFFF"/>
                </a:solidFill>
                <a:latin typeface="Inter"/>
              </a:defRPr>
            </a:pPr>
            <a:r>
              <a:t>• Shortage of skilled AI professionals.</a:t>
            </a:r>
          </a:p>
          <a:p>
            <a:pPr>
              <a:lnSpc>
                <a:spcPct val="130000"/>
              </a:lnSpc>
              <a:spcBef>
                <a:spcPts val="200"/>
              </a:spcBef>
              <a:spcAft>
                <a:spcPts val="1200"/>
              </a:spcAft>
              <a:defRPr sz="2200">
                <a:solidFill>
                  <a:srgbClr val="FFFFFF"/>
                </a:solidFill>
                <a:latin typeface="Inter"/>
              </a:defRPr>
            </a:pPr>
            <a:r>
              <a:t>• Concerns around data privacy.</a:t>
            </a:r>
          </a:p>
          <a:p>
            <a:pPr>
              <a:lnSpc>
                <a:spcPct val="130000"/>
              </a:lnSpc>
              <a:spcBef>
                <a:spcPts val="200"/>
              </a:spcBef>
              <a:spcAft>
                <a:spcPts val="1200"/>
              </a:spcAft>
              <a:defRPr sz="2200">
                <a:solidFill>
                  <a:srgbClr val="FFFFFF"/>
                </a:solidFill>
                <a:latin typeface="Inter"/>
              </a:defRPr>
            </a:pPr>
            <a:r>
              <a:t>• Need for regulatory frameworks.</a:t>
            </a:r>
          </a:p>
        </p:txBody>
      </p:sp>
    </p:spTree>
  </p:cSld>
  <p:clrMapOvr>
    <a:masterClrMapping/>
  </p:clrMapOvr>
  <p:transition spd="slow">
    <p:fade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600">
                <a:solidFill>
                  <a:srgbClr val="F472B6"/>
                </a:solidFill>
                <a:latin typeface="Inter"/>
              </a:defRPr>
            </a:pPr>
            <a:r>
              <a:t>Opportunities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645920"/>
            <a:ext cx="10972800" cy="4572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2011680"/>
            <a:ext cx="100584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lnSpc>
                <a:spcPct val="130000"/>
              </a:lnSpc>
              <a:spcBef>
                <a:spcPts val="200"/>
              </a:spcBef>
              <a:spcAft>
                <a:spcPts val="1200"/>
              </a:spcAft>
              <a:defRPr sz="2200">
                <a:solidFill>
                  <a:srgbClr val="FFFFFF"/>
                </a:solidFill>
                <a:latin typeface="Inter"/>
              </a:defRPr>
            </a:pPr>
            <a:r>
              <a:t>• Potential for international collaborations.</a:t>
            </a:r>
          </a:p>
          <a:p>
            <a:pPr>
              <a:lnSpc>
                <a:spcPct val="130000"/>
              </a:lnSpc>
              <a:spcBef>
                <a:spcPts val="200"/>
              </a:spcBef>
              <a:spcAft>
                <a:spcPts val="1200"/>
              </a:spcAft>
              <a:defRPr sz="2200">
                <a:solidFill>
                  <a:srgbClr val="FFFFFF"/>
                </a:solidFill>
                <a:latin typeface="Inter"/>
              </a:defRPr>
            </a:pPr>
            <a:r>
              <a:t>• Rising demand for AI solutions.</a:t>
            </a:r>
          </a:p>
          <a:p>
            <a:pPr>
              <a:lnSpc>
                <a:spcPct val="130000"/>
              </a:lnSpc>
              <a:spcBef>
                <a:spcPts val="200"/>
              </a:spcBef>
              <a:spcAft>
                <a:spcPts val="1200"/>
              </a:spcAft>
              <a:defRPr sz="2200">
                <a:solidFill>
                  <a:srgbClr val="FFFFFF"/>
                </a:solidFill>
                <a:latin typeface="Inter"/>
              </a:defRPr>
            </a:pPr>
            <a:r>
              <a:t>• Government funding and support initiatives.</a:t>
            </a:r>
          </a:p>
        </p:txBody>
      </p:sp>
    </p:spTree>
  </p:cSld>
  <p:clrMapOvr>
    <a:masterClrMapping/>
  </p:clrMapOvr>
  <p:transition spd="slow">
    <p:fade/>
  </p:transition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600">
                <a:solidFill>
                  <a:srgbClr val="F472B6"/>
                </a:solidFill>
                <a:latin typeface="Inter"/>
              </a:defRPr>
            </a:pPr>
            <a:r>
              <a:t>Market Size Growth Trajectory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645920"/>
            <a:ext cx="10972800" cy="4572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2011680"/>
            <a:ext cx="100584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lnSpc>
                <a:spcPct val="130000"/>
              </a:lnSpc>
              <a:spcBef>
                <a:spcPts val="200"/>
              </a:spcBef>
              <a:spcAft>
                <a:spcPts val="1200"/>
              </a:spcAft>
              <a:defRPr sz="2200">
                <a:solidFill>
                  <a:srgbClr val="FFFFFF"/>
                </a:solidFill>
                <a:latin typeface="Inter"/>
              </a:defRPr>
            </a:pPr>
            <a:r>
              <a:t>• Projected market size growth from USD 2B.</a:t>
            </a:r>
          </a:p>
          <a:p>
            <a:pPr>
              <a:lnSpc>
                <a:spcPct val="130000"/>
              </a:lnSpc>
              <a:spcBef>
                <a:spcPts val="200"/>
              </a:spcBef>
              <a:spcAft>
                <a:spcPts val="1200"/>
              </a:spcAft>
              <a:defRPr sz="2200">
                <a:solidFill>
                  <a:srgbClr val="FFFFFF"/>
                </a:solidFill>
                <a:latin typeface="Inter"/>
              </a:defRPr>
            </a:pPr>
            <a:r>
              <a:t>• Yearly growth data analysis.</a:t>
            </a:r>
          </a:p>
          <a:p>
            <a:pPr>
              <a:lnSpc>
                <a:spcPct val="130000"/>
              </a:lnSpc>
              <a:spcBef>
                <a:spcPts val="200"/>
              </a:spcBef>
              <a:spcAft>
                <a:spcPts val="1200"/>
              </a:spcAft>
              <a:defRPr sz="2200">
                <a:solidFill>
                  <a:srgbClr val="FFFFFF"/>
                </a:solidFill>
                <a:latin typeface="Inter"/>
              </a:defRPr>
            </a:pPr>
            <a:r>
              <a:t>• Impact of technology advancements.</a:t>
            </a:r>
          </a:p>
        </p:txBody>
      </p:sp>
    </p:spTree>
  </p:cSld>
  <p:clrMapOvr>
    <a:masterClrMapping/>
  </p:clrMapOvr>
  <p:transition spd="slow">
    <p:fade/>
  </p:transition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600">
                <a:solidFill>
                  <a:srgbClr val="F472B6"/>
                </a:solidFill>
                <a:latin typeface="Inter"/>
              </a:defRPr>
            </a:pPr>
            <a:r>
              <a:t>Competitive Landscape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645920"/>
            <a:ext cx="10972800" cy="4572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2011680"/>
            <a:ext cx="100584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lnSpc>
                <a:spcPct val="130000"/>
              </a:lnSpc>
              <a:spcBef>
                <a:spcPts val="200"/>
              </a:spcBef>
              <a:spcAft>
                <a:spcPts val="1200"/>
              </a:spcAft>
              <a:defRPr sz="2200">
                <a:solidFill>
                  <a:srgbClr val="FFFFFF"/>
                </a:solidFill>
                <a:latin typeface="Inter"/>
              </a:defRPr>
            </a:pPr>
            <a:r>
              <a:t>• Key players in the AI research sector.</a:t>
            </a:r>
          </a:p>
          <a:p>
            <a:pPr>
              <a:lnSpc>
                <a:spcPct val="130000"/>
              </a:lnSpc>
              <a:spcBef>
                <a:spcPts val="200"/>
              </a:spcBef>
              <a:spcAft>
                <a:spcPts val="1200"/>
              </a:spcAft>
              <a:defRPr sz="2200">
                <a:solidFill>
                  <a:srgbClr val="FFFFFF"/>
                </a:solidFill>
                <a:latin typeface="Inter"/>
              </a:defRPr>
            </a:pPr>
            <a:r>
              <a:t>• Market share of leading companies.</a:t>
            </a:r>
          </a:p>
          <a:p>
            <a:pPr>
              <a:lnSpc>
                <a:spcPct val="130000"/>
              </a:lnSpc>
              <a:spcBef>
                <a:spcPts val="200"/>
              </a:spcBef>
              <a:spcAft>
                <a:spcPts val="1200"/>
              </a:spcAft>
              <a:defRPr sz="2200">
                <a:solidFill>
                  <a:srgbClr val="FFFFFF"/>
                </a:solidFill>
                <a:latin typeface="Inter"/>
              </a:defRPr>
            </a:pPr>
            <a:r>
              <a:t>• Competitor strengths analysis.</a:t>
            </a:r>
          </a:p>
        </p:txBody>
      </p:sp>
    </p:spTree>
  </p:cSld>
  <p:clrMapOvr>
    <a:masterClrMapping/>
  </p:clrMapOvr>
  <p:transition spd="slow">
    <p:fade/>
  </p:transition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600">
                <a:solidFill>
                  <a:srgbClr val="F472B6"/>
                </a:solidFill>
                <a:latin typeface="Inter"/>
              </a:defRPr>
            </a:pPr>
            <a:r>
              <a:t>Market Share Analysis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645920"/>
            <a:ext cx="10972800" cy="4572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2011680"/>
            <a:ext cx="100584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lnSpc>
                <a:spcPct val="130000"/>
              </a:lnSpc>
              <a:spcBef>
                <a:spcPts val="200"/>
              </a:spcBef>
              <a:spcAft>
                <a:spcPts val="1200"/>
              </a:spcAft>
              <a:defRPr sz="2200">
                <a:solidFill>
                  <a:srgbClr val="FFFFFF"/>
                </a:solidFill>
                <a:latin typeface="Inter"/>
              </a:defRPr>
            </a:pPr>
            <a:r>
              <a:t>• Company A holds 40% market share.</a:t>
            </a:r>
          </a:p>
          <a:p>
            <a:pPr>
              <a:lnSpc>
                <a:spcPct val="130000"/>
              </a:lnSpc>
              <a:spcBef>
                <a:spcPts val="200"/>
              </a:spcBef>
              <a:spcAft>
                <a:spcPts val="1200"/>
              </a:spcAft>
              <a:defRPr sz="2200">
                <a:solidFill>
                  <a:srgbClr val="FFFFFF"/>
                </a:solidFill>
                <a:latin typeface="Inter"/>
              </a:defRPr>
            </a:pPr>
            <a:r>
              <a:t>• Company B follows with 30%.</a:t>
            </a:r>
          </a:p>
          <a:p>
            <a:pPr>
              <a:lnSpc>
                <a:spcPct val="130000"/>
              </a:lnSpc>
              <a:spcBef>
                <a:spcPts val="200"/>
              </a:spcBef>
              <a:spcAft>
                <a:spcPts val="1200"/>
              </a:spcAft>
              <a:defRPr sz="2200">
                <a:solidFill>
                  <a:srgbClr val="FFFFFF"/>
                </a:solidFill>
                <a:latin typeface="Inter"/>
              </a:defRPr>
            </a:pPr>
            <a:r>
              <a:t>• Others account for 30% of the market.</a:t>
            </a:r>
          </a:p>
        </p:txBody>
      </p:sp>
    </p:spTree>
  </p:cSld>
  <p:clrMapOvr>
    <a:masterClrMapping/>
  </p:clrMapOvr>
  <p:transition spd="slow">
    <p:fade/>
  </p:transition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600">
                <a:solidFill>
                  <a:srgbClr val="F472B6"/>
                </a:solidFill>
                <a:latin typeface="Inter"/>
              </a:defRPr>
            </a:pPr>
            <a:r>
              <a:t>Growth Projections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645920"/>
            <a:ext cx="10972800" cy="4572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2011680"/>
            <a:ext cx="100584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lnSpc>
                <a:spcPct val="130000"/>
              </a:lnSpc>
              <a:spcBef>
                <a:spcPts val="200"/>
              </a:spcBef>
              <a:spcAft>
                <a:spcPts val="1200"/>
              </a:spcAft>
              <a:defRPr sz="2200">
                <a:solidFill>
                  <a:srgbClr val="FFFFFF"/>
                </a:solidFill>
                <a:latin typeface="Inter"/>
              </a:defRPr>
            </a:pPr>
            <a:r>
              <a:t>• Expected growth of 15% in 2024.</a:t>
            </a:r>
          </a:p>
          <a:p>
            <a:pPr>
              <a:lnSpc>
                <a:spcPct val="130000"/>
              </a:lnSpc>
              <a:spcBef>
                <a:spcPts val="200"/>
              </a:spcBef>
              <a:spcAft>
                <a:spcPts val="1200"/>
              </a:spcAft>
              <a:defRPr sz="2200">
                <a:solidFill>
                  <a:srgbClr val="FFFFFF"/>
                </a:solidFill>
                <a:latin typeface="Inter"/>
              </a:defRPr>
            </a:pPr>
            <a:r>
              <a:t>• Projected growth of 18% in 2025.</a:t>
            </a:r>
          </a:p>
          <a:p>
            <a:pPr>
              <a:lnSpc>
                <a:spcPct val="130000"/>
              </a:lnSpc>
              <a:spcBef>
                <a:spcPts val="200"/>
              </a:spcBef>
              <a:spcAft>
                <a:spcPts val="1200"/>
              </a:spcAft>
              <a:defRPr sz="2200">
                <a:solidFill>
                  <a:srgbClr val="FFFFFF"/>
                </a:solidFill>
                <a:latin typeface="Inter"/>
              </a:defRPr>
            </a:pPr>
            <a:r>
              <a:t>• Forecasted growth of 22% in 2026.</a:t>
            </a:r>
          </a:p>
        </p:txBody>
      </p:sp>
    </p:spTree>
  </p:cSld>
  <p:clrMapOvr>
    <a:masterClrMapping/>
  </p:clrMapOvr>
  <p:transition spd="slow">
    <p:fade/>
  </p:transition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600">
                <a:solidFill>
                  <a:srgbClr val="F472B6"/>
                </a:solidFill>
                <a:latin typeface="Inter"/>
              </a:defRPr>
            </a:pPr>
            <a:r>
              <a:t>Strength of Competitors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645920"/>
            <a:ext cx="10972800" cy="4572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2011680"/>
            <a:ext cx="100584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lnSpc>
                <a:spcPct val="130000"/>
              </a:lnSpc>
              <a:spcBef>
                <a:spcPts val="200"/>
              </a:spcBef>
              <a:spcAft>
                <a:spcPts val="1200"/>
              </a:spcAft>
              <a:defRPr sz="2200">
                <a:solidFill>
                  <a:srgbClr val="FFFFFF"/>
                </a:solidFill>
                <a:latin typeface="Inter"/>
              </a:defRPr>
            </a:pPr>
            <a:r>
              <a:t>• Competitor A rated at 80 in capabilities.</a:t>
            </a:r>
          </a:p>
          <a:p>
            <a:pPr>
              <a:lnSpc>
                <a:spcPct val="130000"/>
              </a:lnSpc>
              <a:spcBef>
                <a:spcPts val="200"/>
              </a:spcBef>
              <a:spcAft>
                <a:spcPts val="1200"/>
              </a:spcAft>
              <a:defRPr sz="2200">
                <a:solidFill>
                  <a:srgbClr val="FFFFFF"/>
                </a:solidFill>
                <a:latin typeface="Inter"/>
              </a:defRPr>
            </a:pPr>
            <a:r>
              <a:t>• Competitor B rated at 65.</a:t>
            </a:r>
          </a:p>
          <a:p>
            <a:pPr>
              <a:lnSpc>
                <a:spcPct val="130000"/>
              </a:lnSpc>
              <a:spcBef>
                <a:spcPts val="200"/>
              </a:spcBef>
              <a:spcAft>
                <a:spcPts val="1200"/>
              </a:spcAft>
              <a:defRPr sz="2200">
                <a:solidFill>
                  <a:srgbClr val="FFFFFF"/>
                </a:solidFill>
                <a:latin typeface="Inter"/>
              </a:defRPr>
            </a:pPr>
            <a:r>
              <a:t>• Impact on market dynamics.</a:t>
            </a:r>
          </a:p>
        </p:txBody>
      </p:sp>
    </p:spTree>
  </p:cSld>
  <p:clrMapOvr>
    <a:masterClrMapping/>
  </p:clrMapOvr>
  <p:transition spd="slow">
    <p:fade/>
  </p:transition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600">
                <a:solidFill>
                  <a:srgbClr val="F472B6"/>
                </a:solidFill>
                <a:latin typeface="Inter"/>
              </a:defRPr>
            </a:pPr>
            <a:r>
              <a:t>Trends Frequency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645920"/>
            <a:ext cx="10972800" cy="4572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2011680"/>
            <a:ext cx="100584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lnSpc>
                <a:spcPct val="130000"/>
              </a:lnSpc>
              <a:spcBef>
                <a:spcPts val="200"/>
              </a:spcBef>
              <a:spcAft>
                <a:spcPts val="1200"/>
              </a:spcAft>
              <a:defRPr sz="2200">
                <a:solidFill>
                  <a:srgbClr val="FFFFFF"/>
                </a:solidFill>
                <a:latin typeface="Inter"/>
              </a:defRPr>
            </a:pPr>
            <a:r>
              <a:t>• Automation is the leading trend at 22.</a:t>
            </a:r>
          </a:p>
          <a:p>
            <a:pPr>
              <a:lnSpc>
                <a:spcPct val="130000"/>
              </a:lnSpc>
              <a:spcBef>
                <a:spcPts val="200"/>
              </a:spcBef>
              <a:spcAft>
                <a:spcPts val="1200"/>
              </a:spcAft>
              <a:defRPr sz="2200">
                <a:solidFill>
                  <a:srgbClr val="FFFFFF"/>
                </a:solidFill>
                <a:latin typeface="Inter"/>
              </a:defRPr>
            </a:pPr>
            <a:r>
              <a:t>• Analytics is significant at 14.</a:t>
            </a:r>
          </a:p>
          <a:p>
            <a:pPr>
              <a:lnSpc>
                <a:spcPct val="130000"/>
              </a:lnSpc>
              <a:spcBef>
                <a:spcPts val="200"/>
              </a:spcBef>
              <a:spcAft>
                <a:spcPts val="1200"/>
              </a:spcAft>
              <a:defRPr sz="2200">
                <a:solidFill>
                  <a:srgbClr val="FFFFFF"/>
                </a:solidFill>
                <a:latin typeface="Inter"/>
              </a:defRPr>
            </a:pPr>
            <a:r>
              <a:t>• Tracking the evolution of trends.</a:t>
            </a:r>
          </a:p>
        </p:txBody>
      </p:sp>
    </p:spTree>
  </p:cSld>
  <p:clrMapOvr>
    <a:masterClrMapping/>
  </p:clrMapOvr>
  <p:transition spd="slow">
    <p:fade/>
  </p:transition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600">
                <a:solidFill>
                  <a:srgbClr val="F472B6"/>
                </a:solidFill>
                <a:latin typeface="Inter"/>
              </a:defRPr>
            </a:pPr>
            <a:r>
              <a:t>Case Studies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645920"/>
            <a:ext cx="10972800" cy="4572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2011680"/>
            <a:ext cx="100584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lnSpc>
                <a:spcPct val="130000"/>
              </a:lnSpc>
              <a:spcBef>
                <a:spcPts val="200"/>
              </a:spcBef>
              <a:spcAft>
                <a:spcPts val="1200"/>
              </a:spcAft>
              <a:defRPr sz="2200">
                <a:solidFill>
                  <a:srgbClr val="FFFFFF"/>
                </a:solidFill>
                <a:latin typeface="Inter"/>
              </a:defRPr>
            </a:pPr>
            <a:r>
              <a:t>• Successful AI startups showcasing innovation.</a:t>
            </a:r>
          </a:p>
          <a:p>
            <a:pPr>
              <a:lnSpc>
                <a:spcPct val="130000"/>
              </a:lnSpc>
              <a:spcBef>
                <a:spcPts val="200"/>
              </a:spcBef>
              <a:spcAft>
                <a:spcPts val="1200"/>
              </a:spcAft>
              <a:defRPr sz="2200">
                <a:solidFill>
                  <a:srgbClr val="FFFFFF"/>
                </a:solidFill>
                <a:latin typeface="Inter"/>
              </a:defRPr>
            </a:pPr>
            <a:r>
              <a:t>• Impact of collaboration between industry and academia.</a:t>
            </a:r>
          </a:p>
          <a:p>
            <a:pPr>
              <a:lnSpc>
                <a:spcPct val="130000"/>
              </a:lnSpc>
              <a:spcBef>
                <a:spcPts val="200"/>
              </a:spcBef>
              <a:spcAft>
                <a:spcPts val="1200"/>
              </a:spcAft>
              <a:defRPr sz="2200">
                <a:solidFill>
                  <a:srgbClr val="FFFFFF"/>
                </a:solidFill>
                <a:latin typeface="Inter"/>
              </a:defRPr>
            </a:pPr>
            <a:r>
              <a:t>• Real-world applications in various sectors.</a:t>
            </a:r>
          </a:p>
        </p:txBody>
      </p:sp>
    </p:spTree>
  </p:cSld>
  <p:clrMapOvr>
    <a:masterClrMapping/>
  </p:clrMapOvr>
  <p:transition spd="slow">
    <p:fade/>
  </p:transition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600">
                <a:solidFill>
                  <a:srgbClr val="F472B6"/>
                </a:solidFill>
                <a:latin typeface="Inter"/>
              </a:defRPr>
            </a:pPr>
            <a:r>
              <a:t>Conclusion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645920"/>
            <a:ext cx="10972800" cy="4572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2011680"/>
            <a:ext cx="100584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lnSpc>
                <a:spcPct val="130000"/>
              </a:lnSpc>
              <a:spcBef>
                <a:spcPts val="200"/>
              </a:spcBef>
              <a:spcAft>
                <a:spcPts val="1200"/>
              </a:spcAft>
              <a:defRPr sz="2200">
                <a:solidFill>
                  <a:srgbClr val="FFFFFF"/>
                </a:solidFill>
                <a:latin typeface="Inter"/>
              </a:defRPr>
            </a:pPr>
            <a:r>
              <a:t>• AI market in India is poised for rapid growth.</a:t>
            </a:r>
          </a:p>
          <a:p>
            <a:pPr>
              <a:lnSpc>
                <a:spcPct val="130000"/>
              </a:lnSpc>
              <a:spcBef>
                <a:spcPts val="200"/>
              </a:spcBef>
              <a:spcAft>
                <a:spcPts val="1200"/>
              </a:spcAft>
              <a:defRPr sz="2200">
                <a:solidFill>
                  <a:srgbClr val="FFFFFF"/>
                </a:solidFill>
                <a:latin typeface="Inter"/>
              </a:defRPr>
            </a:pPr>
            <a:r>
              <a:t>• Strategic investments can drive innovation.</a:t>
            </a:r>
          </a:p>
          <a:p>
            <a:pPr>
              <a:lnSpc>
                <a:spcPct val="130000"/>
              </a:lnSpc>
              <a:spcBef>
                <a:spcPts val="200"/>
              </a:spcBef>
              <a:spcAft>
                <a:spcPts val="1200"/>
              </a:spcAft>
              <a:defRPr sz="2200">
                <a:solidFill>
                  <a:srgbClr val="FFFFFF"/>
                </a:solidFill>
                <a:latin typeface="Inter"/>
              </a:defRPr>
            </a:pPr>
            <a:r>
              <a:t>• Focus on responsible AI is essential.</a:t>
            </a:r>
          </a:p>
        </p:txBody>
      </p:sp>
    </p:spTree>
  </p:cSld>
  <p:clrMapOvr>
    <a:masterClrMapping/>
  </p:clrMapOvr>
  <p:transition spd="slow">
    <p:fade/>
  </p:transition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600">
                <a:solidFill>
                  <a:srgbClr val="F472B6"/>
                </a:solidFill>
                <a:latin typeface="Inter"/>
              </a:defRPr>
            </a:pPr>
            <a:r>
              <a:t>Key Takeaways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645920"/>
            <a:ext cx="10972800" cy="4572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2011680"/>
            <a:ext cx="100584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lnSpc>
                <a:spcPct val="130000"/>
              </a:lnSpc>
              <a:spcBef>
                <a:spcPts val="200"/>
              </a:spcBef>
              <a:spcAft>
                <a:spcPts val="1200"/>
              </a:spcAft>
              <a:defRPr sz="2200">
                <a:solidFill>
                  <a:srgbClr val="FFFFFF"/>
                </a:solidFill>
                <a:latin typeface="Inter"/>
              </a:defRPr>
            </a:pPr>
            <a:r>
              <a:t>• Investments in AI are crucial for future growth.</a:t>
            </a:r>
          </a:p>
          <a:p>
            <a:pPr>
              <a:lnSpc>
                <a:spcPct val="130000"/>
              </a:lnSpc>
              <a:spcBef>
                <a:spcPts val="200"/>
              </a:spcBef>
              <a:spcAft>
                <a:spcPts val="1200"/>
              </a:spcAft>
              <a:defRPr sz="2200">
                <a:solidFill>
                  <a:srgbClr val="FFFFFF"/>
                </a:solidFill>
                <a:latin typeface="Inter"/>
              </a:defRPr>
            </a:pPr>
            <a:r>
              <a:t>• Collaboration can enhance AI capabilities.</a:t>
            </a:r>
          </a:p>
        </p:txBody>
      </p:sp>
    </p:spTree>
  </p:cSld>
  <p:clrMapOvr>
    <a:masterClrMapping/>
  </p:clrMapOvr>
  <p:transition spd="slow">
    <p:fade/>
  </p:transition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600">
                <a:solidFill>
                  <a:srgbClr val="F472B6"/>
                </a:solidFill>
                <a:latin typeface="Inter"/>
              </a:defRPr>
            </a:pPr>
            <a:r>
              <a:t>Market Size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280160"/>
            <a:ext cx="11094415" cy="5029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chart_market_siz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58975" y="1417320"/>
            <a:ext cx="7873744" cy="4846320"/>
          </a:xfrm>
          <a:prstGeom prst="rect">
            <a:avLst/>
          </a:prstGeom>
        </p:spPr>
      </p:pic>
    </p:spTree>
  </p:cSld>
  <p:clrMapOvr>
    <a:masterClrMapping/>
  </p:clrMapOvr>
  <p:transition spd="slow">
    <p:fade/>
  </p:transition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600">
                <a:solidFill>
                  <a:srgbClr val="F472B6"/>
                </a:solidFill>
                <a:latin typeface="Inter"/>
              </a:defRPr>
            </a:pPr>
            <a:r>
              <a:t>Market Share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280160"/>
            <a:ext cx="11094415" cy="5029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chart_market_sha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89733" y="1417320"/>
            <a:ext cx="4612228" cy="4846320"/>
          </a:xfrm>
          <a:prstGeom prst="rect">
            <a:avLst/>
          </a:prstGeom>
        </p:spPr>
      </p:pic>
    </p:spTree>
  </p:cSld>
  <p:clrMapOvr>
    <a:masterClrMapping/>
  </p:clrMapOvr>
  <p:transition spd="slow">
    <p:fade/>
  </p:transition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600">
                <a:solidFill>
                  <a:srgbClr val="F472B6"/>
                </a:solidFill>
                <a:latin typeface="Inter"/>
              </a:defRPr>
            </a:pPr>
            <a:r>
              <a:t>Growth Projection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280160"/>
            <a:ext cx="11094415" cy="5029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chart_growth_projec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58975" y="1417320"/>
            <a:ext cx="7873744" cy="4846320"/>
          </a:xfrm>
          <a:prstGeom prst="rect">
            <a:avLst/>
          </a:prstGeom>
        </p:spPr>
      </p:pic>
    </p:spTree>
  </p:cSld>
  <p:clrMapOvr>
    <a:masterClrMapping/>
  </p:clrMapOvr>
  <p:transition spd="slow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